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Play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iOKHof16dWAJtrusSfSQlKtX9E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probe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E2321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Colorization</c:v>
                </c:pt>
                <c:pt idx="1">
                  <c:v>Contrastive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27.6</c:v>
                </c:pt>
                <c:pt idx="1">
                  <c:v>31.6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57-4CA2-A8F3-E49E2C0055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5-NN probe</c:v>
                </c:pt>
              </c:strCache>
            </c:strRef>
          </c:tx>
          <c:spPr>
            <a:solidFill>
              <a:srgbClr val="5C776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E2321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Colorization</c:v>
                </c:pt>
                <c:pt idx="1">
                  <c:v>Contrastive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9.6</c:v>
                </c:pt>
                <c:pt idx="1">
                  <c:v>12.2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57-4CA2-A8F3-E49E2C0055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E23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E232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lt2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lay"/>
              <a:buNone/>
              <a:defRPr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ftr" idx="11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17" name="Google Shape;17;p15"/>
          <p:cNvCxnSpPr/>
          <p:nvPr/>
        </p:nvCxnSpPr>
        <p:spPr>
          <a:xfrm rot="10800000">
            <a:off x="0" y="5016433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8" name="Google Shape;18;p15"/>
          <p:cNvCxnSpPr/>
          <p:nvPr/>
        </p:nvCxnSpPr>
        <p:spPr>
          <a:xfrm rot="10800000">
            <a:off x="0" y="459932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itolo" type="titleOnly">
  <p:cSld name="TITLE_ONL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ith Picture">
  <p:cSld name="Title with Picture">
    <p:bg>
      <p:bgPr>
        <a:solidFill>
          <a:schemeClr val="lt2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"/>
          <p:cNvSpPr txBox="1"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lvl="2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lvl="3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lvl="4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17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462974" y="1606318"/>
            <a:ext cx="11268845" cy="4791456"/>
          </a:xfrm>
          <a:prstGeom prst="rect">
            <a:avLst/>
          </a:prstGeom>
          <a:blipFill rotWithShape="1">
            <a:blip r:embed="rId2">
              <a:alphaModFix amt="80000"/>
            </a:blip>
            <a:stretch>
              <a:fillRect/>
            </a:stretch>
          </a:blipFill>
          <a:ln>
            <a:noFill/>
          </a:ln>
        </p:spPr>
      </p:pic>
      <p:sp>
        <p:nvSpPr>
          <p:cNvPr id="28" name="Google Shape;28;p17"/>
          <p:cNvSpPr txBox="1">
            <a:spLocks noGrp="1"/>
          </p:cNvSpPr>
          <p:nvPr>
            <p:ph type="ftr" idx="11"/>
          </p:nvPr>
        </p:nvSpPr>
        <p:spPr>
          <a:xfrm>
            <a:off x="640080" y="6445997"/>
            <a:ext cx="39493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31" name="Google Shape;31;p17"/>
          <p:cNvCxnSpPr/>
          <p:nvPr/>
        </p:nvCxnSpPr>
        <p:spPr>
          <a:xfrm rot="10800000">
            <a:off x="0" y="1599718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2" name="Google Shape;32;p17"/>
          <p:cNvCxnSpPr/>
          <p:nvPr/>
        </p:nvCxnSpPr>
        <p:spPr>
          <a:xfrm>
            <a:off x="457200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3" name="Google Shape;33;p17"/>
          <p:cNvCxnSpPr/>
          <p:nvPr/>
        </p:nvCxnSpPr>
        <p:spPr>
          <a:xfrm>
            <a:off x="11734800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4" name="Google Shape;34;p17"/>
          <p:cNvCxnSpPr/>
          <p:nvPr/>
        </p:nvCxnSpPr>
        <p:spPr>
          <a:xfrm rot="10800000">
            <a:off x="0" y="6396171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30196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1"/>
          </p:nvPr>
        </p:nvSpPr>
        <p:spPr>
          <a:xfrm>
            <a:off x="685800" y="2004291"/>
            <a:ext cx="10515600" cy="4172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685800" y="6445997"/>
            <a:ext cx="39493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41" name="Google Shape;41;p18"/>
          <p:cNvCxnSpPr/>
          <p:nvPr/>
        </p:nvCxnSpPr>
        <p:spPr>
          <a:xfrm rot="10800000">
            <a:off x="0" y="1825625"/>
            <a:ext cx="12210293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ith Picture 2">
  <p:cSld name="Title with Picture 2">
    <p:bg>
      <p:bgPr>
        <a:solidFill>
          <a:schemeClr val="lt2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 txBox="1"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45" name="Google Shape;45;p19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0" y="0"/>
            <a:ext cx="7204414" cy="6859634"/>
          </a:xfrm>
          <a:prstGeom prst="rect">
            <a:avLst/>
          </a:prstGeom>
          <a:blipFill rotWithShape="1">
            <a:blip r:embed="rId2">
              <a:alphaModFix amt="80000"/>
            </a:blip>
            <a:stretch>
              <a:fillRect/>
            </a:stretch>
          </a:blipFill>
          <a:ln>
            <a:noFill/>
          </a:ln>
        </p:spPr>
      </p:pic>
      <p:sp>
        <p:nvSpPr>
          <p:cNvPr id="46" name="Google Shape;46;p19"/>
          <p:cNvSpPr txBox="1">
            <a:spLocks noGrp="1"/>
          </p:cNvSpPr>
          <p:nvPr>
            <p:ph type="ftr" idx="11"/>
          </p:nvPr>
        </p:nvSpPr>
        <p:spPr>
          <a:xfrm>
            <a:off x="7429501" y="6445997"/>
            <a:ext cx="29554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10226650" y="6445997"/>
            <a:ext cx="1353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49" name="Google Shape;49;p19"/>
          <p:cNvCxnSpPr/>
          <p:nvPr/>
        </p:nvCxnSpPr>
        <p:spPr>
          <a:xfrm rot="10800000">
            <a:off x="7206802" y="5031087"/>
            <a:ext cx="4985198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0" name="Google Shape;50;p19"/>
          <p:cNvCxnSpPr/>
          <p:nvPr/>
        </p:nvCxnSpPr>
        <p:spPr>
          <a:xfrm>
            <a:off x="7206802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SECTION_HEADER">
    <p:bg>
      <p:bgPr>
        <a:solidFill>
          <a:schemeClr val="dk2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0"/>
          <p:cNvSpPr txBox="1"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600"/>
              <a:buFont typeface="Play"/>
              <a:buNone/>
              <a:defRPr sz="6600" cap="none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ftr" idx="11"/>
          </p:nvPr>
        </p:nvSpPr>
        <p:spPr>
          <a:xfrm>
            <a:off x="457200" y="6445997"/>
            <a:ext cx="37510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58" name="Google Shape;58;p20"/>
          <p:cNvCxnSpPr/>
          <p:nvPr/>
        </p:nvCxnSpPr>
        <p:spPr>
          <a:xfrm rot="10800000">
            <a:off x="0" y="1367580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lt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9" name="Google Shape;59;p20"/>
          <p:cNvCxnSpPr/>
          <p:nvPr/>
        </p:nvCxnSpPr>
        <p:spPr>
          <a:xfrm rot="10800000">
            <a:off x="0" y="6398068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lt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ith Picture">
  <p:cSld name="Agenda with Picture"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DDD0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Play"/>
              <a:buNone/>
              <a:defRPr sz="7200"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3" name="Google Shape;63;p21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-8364" y="1830708"/>
            <a:ext cx="5321063" cy="4563927"/>
          </a:xfrm>
          <a:prstGeom prst="rect">
            <a:avLst/>
          </a:prstGeom>
          <a:blipFill rotWithShape="1">
            <a:blip r:embed="rId2">
              <a:alphaModFix amt="80000"/>
            </a:blip>
            <a:stretch>
              <a:fillRect/>
            </a:stretch>
          </a:blipFill>
          <a:ln>
            <a:noFill/>
          </a:ln>
        </p:spPr>
      </p:pic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5846552" y="2191025"/>
            <a:ext cx="5733156" cy="3894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Play"/>
              <a:buAutoNum type="arabicPeriod"/>
              <a:defRPr sz="200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"/>
              <a:buAutoNum type="arabicPeriod"/>
              <a:defRPr sz="18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Play"/>
              <a:buAutoNum type="arabicPeriod"/>
              <a:defRPr sz="1600">
                <a:solidFill>
                  <a:schemeClr val="dk2"/>
                </a:solidFill>
              </a:defRPr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"/>
              <a:buAutoNum type="arabicPeriod"/>
              <a:defRPr sz="1400">
                <a:solidFill>
                  <a:schemeClr val="dk2"/>
                </a:solidFill>
              </a:defRPr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"/>
              <a:buAutoNum type="arabicPeriod"/>
              <a:defRPr sz="14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ftr" idx="11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68" name="Google Shape;68;p21"/>
          <p:cNvCxnSpPr/>
          <p:nvPr/>
        </p:nvCxnSpPr>
        <p:spPr>
          <a:xfrm rot="10800000">
            <a:off x="0" y="1822345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4D4D4D">
                <a:alpha val="30196"/>
              </a:srgb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9" name="Google Shape;69;p21"/>
          <p:cNvCxnSpPr/>
          <p:nvPr/>
        </p:nvCxnSpPr>
        <p:spPr>
          <a:xfrm rot="10800000">
            <a:off x="0" y="6398068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4D4D4D">
                <a:alpha val="30196"/>
              </a:srgb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0" name="Google Shape;70;p21"/>
          <p:cNvCxnSpPr/>
          <p:nvPr/>
        </p:nvCxnSpPr>
        <p:spPr>
          <a:xfrm>
            <a:off x="5321065" y="1822345"/>
            <a:ext cx="0" cy="5035655"/>
          </a:xfrm>
          <a:prstGeom prst="straightConnector1">
            <a:avLst/>
          </a:prstGeom>
          <a:noFill/>
          <a:ln w="9525" cap="flat" cmpd="sng">
            <a:solidFill>
              <a:srgbClr val="4D4D4D">
                <a:alpha val="30196"/>
              </a:srgb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2">
  <p:cSld name="Content 2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2"/>
          <p:cNvSpPr txBox="1"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body" idx="1"/>
          </p:nvPr>
        </p:nvSpPr>
        <p:spPr>
          <a:xfrm>
            <a:off x="4904515" y="2780147"/>
            <a:ext cx="6567049" cy="3359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ftr" idx="11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77" name="Google Shape;77;p22"/>
          <p:cNvCxnSpPr/>
          <p:nvPr/>
        </p:nvCxnSpPr>
        <p:spPr>
          <a:xfrm rot="10800000">
            <a:off x="0" y="2397979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8" name="Google Shape;78;p22"/>
          <p:cNvCxnSpPr/>
          <p:nvPr/>
        </p:nvCxnSpPr>
        <p:spPr>
          <a:xfrm>
            <a:off x="4469245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3">
  <p:cSld name="Content 3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3"/>
          <p:cNvSpPr txBox="1"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body" idx="1"/>
          </p:nvPr>
        </p:nvSpPr>
        <p:spPr>
          <a:xfrm>
            <a:off x="5270349" y="720473"/>
            <a:ext cx="6309360" cy="530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85" name="Google Shape;85;p23"/>
          <p:cNvCxnSpPr/>
          <p:nvPr/>
        </p:nvCxnSpPr>
        <p:spPr>
          <a:xfrm>
            <a:off x="4643464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86" name="Google Shape;86;p23"/>
          <p:cNvCxnSpPr/>
          <p:nvPr/>
        </p:nvCxnSpPr>
        <p:spPr>
          <a:xfrm rot="10800000">
            <a:off x="0" y="6398068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icture">
  <p:cSld name="Content with Pictur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9" name="Google Shape;89;p24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0" y="1"/>
            <a:ext cx="4421943" cy="6398066"/>
          </a:xfrm>
          <a:prstGeom prst="rect">
            <a:avLst/>
          </a:prstGeom>
          <a:blipFill rotWithShape="1">
            <a:blip r:embed="rId2">
              <a:alphaModFix amt="80000"/>
            </a:blip>
            <a:stretch>
              <a:fillRect/>
            </a:stretch>
          </a:blipFill>
          <a:ln>
            <a:noFill/>
          </a:ln>
        </p:spPr>
      </p:pic>
      <p:sp>
        <p:nvSpPr>
          <p:cNvPr id="90" name="Google Shape;90;p24"/>
          <p:cNvSpPr txBox="1">
            <a:spLocks noGrp="1"/>
          </p:cNvSpPr>
          <p:nvPr>
            <p:ph type="body" idx="1"/>
          </p:nvPr>
        </p:nvSpPr>
        <p:spPr>
          <a:xfrm>
            <a:off x="4911994" y="2083837"/>
            <a:ext cx="6825545" cy="4032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ftr" idx="11"/>
          </p:nvPr>
        </p:nvSpPr>
        <p:spPr>
          <a:xfrm>
            <a:off x="457200" y="6445997"/>
            <a:ext cx="38114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94" name="Google Shape;94;p24"/>
          <p:cNvCxnSpPr/>
          <p:nvPr/>
        </p:nvCxnSpPr>
        <p:spPr>
          <a:xfrm rot="10800000">
            <a:off x="0" y="6398068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5" name="Google Shape;95;p24"/>
          <p:cNvCxnSpPr/>
          <p:nvPr/>
        </p:nvCxnSpPr>
        <p:spPr>
          <a:xfrm>
            <a:off x="4423739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6" name="Google Shape;96;p24"/>
          <p:cNvCxnSpPr/>
          <p:nvPr/>
        </p:nvCxnSpPr>
        <p:spPr>
          <a:xfrm rot="10800000">
            <a:off x="4425535" y="1810995"/>
            <a:ext cx="7750205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icture 2">
  <p:cSld name="Content with Picture 2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9" name="Google Shape;99;p25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-8994" y="-5468"/>
            <a:ext cx="4011836" cy="6398066"/>
          </a:xfrm>
          <a:prstGeom prst="rect">
            <a:avLst/>
          </a:prstGeom>
          <a:blipFill rotWithShape="1">
            <a:blip r:embed="rId2">
              <a:alphaModFix amt="80000"/>
            </a:blip>
            <a:stretch>
              <a:fillRect/>
            </a:stretch>
          </a:blipFill>
          <a:ln>
            <a:noFill/>
          </a:ln>
        </p:spPr>
      </p:pic>
      <p:sp>
        <p:nvSpPr>
          <p:cNvPr id="100" name="Google Shape;100;p25"/>
          <p:cNvSpPr txBox="1">
            <a:spLocks noGrp="1"/>
          </p:cNvSpPr>
          <p:nvPr>
            <p:ph type="body" idx="1"/>
          </p:nvPr>
        </p:nvSpPr>
        <p:spPr>
          <a:xfrm>
            <a:off x="4472644" y="1812385"/>
            <a:ext cx="7231407" cy="4423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ftr" idx="11"/>
          </p:nvPr>
        </p:nvSpPr>
        <p:spPr>
          <a:xfrm>
            <a:off x="457200" y="6445997"/>
            <a:ext cx="340801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104" name="Google Shape;104;p25"/>
          <p:cNvCxnSpPr/>
          <p:nvPr/>
        </p:nvCxnSpPr>
        <p:spPr>
          <a:xfrm rot="10800000">
            <a:off x="0" y="6398068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5" name="Google Shape;105;p25"/>
          <p:cNvCxnSpPr/>
          <p:nvPr/>
        </p:nvCxnSpPr>
        <p:spPr>
          <a:xfrm>
            <a:off x="4009212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icture 3">
  <p:cSld name="Content with Picture 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body" idx="1"/>
          </p:nvPr>
        </p:nvSpPr>
        <p:spPr>
          <a:xfrm>
            <a:off x="457200" y="1823728"/>
            <a:ext cx="7281061" cy="4423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9" name="Google Shape;109;p26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8195489" y="-6369"/>
            <a:ext cx="3996512" cy="6398066"/>
          </a:xfrm>
          <a:prstGeom prst="rect">
            <a:avLst/>
          </a:prstGeom>
          <a:blipFill rotWithShape="1">
            <a:blip r:embed="rId2">
              <a:alphaModFix amt="80000"/>
            </a:blip>
            <a:stretch>
              <a:fillRect/>
            </a:stretch>
          </a:blipFill>
          <a:ln>
            <a:noFill/>
          </a:ln>
        </p:spPr>
      </p:pic>
      <p:sp>
        <p:nvSpPr>
          <p:cNvPr id="110" name="Google Shape;110;p26"/>
          <p:cNvSpPr txBox="1">
            <a:spLocks noGrp="1"/>
          </p:cNvSpPr>
          <p:nvPr>
            <p:ph type="ftr" idx="11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6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6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113" name="Google Shape;113;p26"/>
          <p:cNvCxnSpPr/>
          <p:nvPr/>
        </p:nvCxnSpPr>
        <p:spPr>
          <a:xfrm rot="10800000">
            <a:off x="0" y="6398068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4" name="Google Shape;114;p26"/>
          <p:cNvCxnSpPr/>
          <p:nvPr/>
        </p:nvCxnSpPr>
        <p:spPr>
          <a:xfrm>
            <a:off x="8188287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icture 4">
  <p:cSld name="Content with Picture 4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body" idx="1"/>
          </p:nvPr>
        </p:nvSpPr>
        <p:spPr>
          <a:xfrm>
            <a:off x="457200" y="1821484"/>
            <a:ext cx="6360897" cy="4292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8" name="Google Shape;118;p27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7277100" y="-8466"/>
            <a:ext cx="4914895" cy="6398066"/>
          </a:xfrm>
          <a:prstGeom prst="rect">
            <a:avLst/>
          </a:prstGeom>
          <a:blipFill rotWithShape="1">
            <a:blip r:embed="rId2">
              <a:alphaModFix amt="80000"/>
            </a:blip>
            <a:stretch>
              <a:fillRect/>
            </a:stretch>
          </a:blipFill>
          <a:ln>
            <a:noFill/>
          </a:ln>
        </p:spPr>
      </p:pic>
      <p:sp>
        <p:nvSpPr>
          <p:cNvPr id="119" name="Google Shape;119;p27"/>
          <p:cNvSpPr txBox="1">
            <a:spLocks noGrp="1"/>
          </p:cNvSpPr>
          <p:nvPr>
            <p:ph type="ftr" idx="11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7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7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122" name="Google Shape;122;p27"/>
          <p:cNvCxnSpPr/>
          <p:nvPr/>
        </p:nvCxnSpPr>
        <p:spPr>
          <a:xfrm rot="10800000">
            <a:off x="0" y="6398068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3" name="Google Shape;123;p27"/>
          <p:cNvCxnSpPr/>
          <p:nvPr/>
        </p:nvCxnSpPr>
        <p:spPr>
          <a:xfrm>
            <a:off x="7270008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icture 5">
  <p:cSld name="Content with Picture 5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8"/>
          <p:cNvSpPr txBox="1">
            <a:spLocks noGrp="1"/>
          </p:cNvSpPr>
          <p:nvPr>
            <p:ph type="body" idx="1"/>
          </p:nvPr>
        </p:nvSpPr>
        <p:spPr>
          <a:xfrm>
            <a:off x="457200" y="2272880"/>
            <a:ext cx="4000497" cy="3789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7" name="Google Shape;127;p28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4853323" y="0"/>
            <a:ext cx="7338676" cy="6396281"/>
          </a:xfrm>
          <a:prstGeom prst="rect">
            <a:avLst/>
          </a:prstGeom>
          <a:blipFill rotWithShape="1">
            <a:blip r:embed="rId2">
              <a:alphaModFix amt="80000"/>
            </a:blip>
            <a:stretch>
              <a:fillRect/>
            </a:stretch>
          </a:blipFill>
          <a:ln>
            <a:noFill/>
          </a:ln>
        </p:spPr>
      </p:pic>
      <p:sp>
        <p:nvSpPr>
          <p:cNvPr id="128" name="Google Shape;128;p28"/>
          <p:cNvSpPr txBox="1">
            <a:spLocks noGrp="1"/>
          </p:cNvSpPr>
          <p:nvPr>
            <p:ph type="ftr" idx="11"/>
          </p:nvPr>
        </p:nvSpPr>
        <p:spPr>
          <a:xfrm>
            <a:off x="457200" y="6445997"/>
            <a:ext cx="40005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8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8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131" name="Google Shape;131;p28"/>
          <p:cNvCxnSpPr/>
          <p:nvPr/>
        </p:nvCxnSpPr>
        <p:spPr>
          <a:xfrm rot="10800000">
            <a:off x="0" y="6399854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2" name="Google Shape;132;p28"/>
          <p:cNvCxnSpPr/>
          <p:nvPr/>
        </p:nvCxnSpPr>
        <p:spPr>
          <a:xfrm>
            <a:off x="4849331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icture 6">
  <p:cSld name="Content with Picture 6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5" name="Google Shape;135;p29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0" y="0"/>
            <a:ext cx="7268396" cy="6396281"/>
          </a:xfrm>
          <a:prstGeom prst="rect">
            <a:avLst/>
          </a:prstGeom>
          <a:blipFill rotWithShape="1">
            <a:blip r:embed="rId2">
              <a:alphaModFix amt="80000"/>
            </a:blip>
            <a:stretch>
              <a:fillRect/>
            </a:stretch>
          </a:blipFill>
          <a:ln>
            <a:noFill/>
          </a:ln>
        </p:spPr>
      </p:pic>
      <p:sp>
        <p:nvSpPr>
          <p:cNvPr id="136" name="Google Shape;136;p29"/>
          <p:cNvSpPr txBox="1">
            <a:spLocks noGrp="1"/>
          </p:cNvSpPr>
          <p:nvPr>
            <p:ph type="body" idx="1"/>
          </p:nvPr>
        </p:nvSpPr>
        <p:spPr>
          <a:xfrm>
            <a:off x="7739922" y="2463789"/>
            <a:ext cx="3909534" cy="3561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9"/>
          <p:cNvSpPr txBox="1">
            <a:spLocks noGrp="1"/>
          </p:cNvSpPr>
          <p:nvPr>
            <p:ph type="ftr" idx="11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9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9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140" name="Google Shape;140;p29"/>
          <p:cNvCxnSpPr/>
          <p:nvPr/>
        </p:nvCxnSpPr>
        <p:spPr>
          <a:xfrm rot="10800000">
            <a:off x="0" y="6399854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1" name="Google Shape;141;p29"/>
          <p:cNvCxnSpPr/>
          <p:nvPr/>
        </p:nvCxnSpPr>
        <p:spPr>
          <a:xfrm>
            <a:off x="7271347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42" name="Google Shape;142;p29"/>
          <p:cNvCxnSpPr/>
          <p:nvPr/>
        </p:nvCxnSpPr>
        <p:spPr>
          <a:xfrm rot="10800000">
            <a:off x="7227420" y="2212509"/>
            <a:ext cx="4935320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icture 7">
  <p:cSld name="Content with Picture 7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5" name="Google Shape;145;p30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-857" y="-1"/>
            <a:ext cx="12192000" cy="3648977"/>
          </a:xfrm>
          <a:prstGeom prst="rect">
            <a:avLst/>
          </a:prstGeom>
          <a:blipFill rotWithShape="1">
            <a:blip r:embed="rId2">
              <a:alphaModFix amt="80000"/>
            </a:blip>
            <a:stretch>
              <a:fillRect/>
            </a:stretch>
          </a:blipFill>
          <a:ln>
            <a:noFill/>
          </a:ln>
        </p:spPr>
      </p:pic>
      <p:sp>
        <p:nvSpPr>
          <p:cNvPr id="146" name="Google Shape;146;p30"/>
          <p:cNvSpPr txBox="1">
            <a:spLocks noGrp="1"/>
          </p:cNvSpPr>
          <p:nvPr>
            <p:ph type="body" idx="1"/>
          </p:nvPr>
        </p:nvSpPr>
        <p:spPr>
          <a:xfrm>
            <a:off x="4723613" y="3959529"/>
            <a:ext cx="7011183" cy="2369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30"/>
          <p:cNvSpPr txBox="1">
            <a:spLocks noGrp="1"/>
          </p:cNvSpPr>
          <p:nvPr>
            <p:ph type="ftr" idx="11"/>
          </p:nvPr>
        </p:nvSpPr>
        <p:spPr>
          <a:xfrm>
            <a:off x="457201" y="6445997"/>
            <a:ext cx="35432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0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0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150" name="Google Shape;150;p30"/>
          <p:cNvCxnSpPr/>
          <p:nvPr/>
        </p:nvCxnSpPr>
        <p:spPr>
          <a:xfrm>
            <a:off x="4290210" y="3648976"/>
            <a:ext cx="0" cy="3209024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51" name="Google Shape;151;p30"/>
          <p:cNvCxnSpPr/>
          <p:nvPr/>
        </p:nvCxnSpPr>
        <p:spPr>
          <a:xfrm rot="10800000">
            <a:off x="-857" y="3654706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icture 8">
  <p:cSld name="Content with Picture 8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/>
          <p:cNvSpPr txBox="1"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4" name="Google Shape;154;p31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0" y="1842182"/>
            <a:ext cx="5758172" cy="4546457"/>
          </a:xfrm>
          <a:prstGeom prst="rect">
            <a:avLst/>
          </a:prstGeom>
          <a:blipFill rotWithShape="1">
            <a:blip r:embed="rId2">
              <a:alphaModFix amt="80000"/>
            </a:blip>
            <a:stretch>
              <a:fillRect/>
            </a:stretch>
          </a:blipFill>
          <a:ln>
            <a:noFill/>
          </a:ln>
        </p:spPr>
      </p:pic>
      <p:sp>
        <p:nvSpPr>
          <p:cNvPr id="155" name="Google Shape;155;p31"/>
          <p:cNvSpPr txBox="1">
            <a:spLocks noGrp="1"/>
          </p:cNvSpPr>
          <p:nvPr>
            <p:ph type="body" idx="1"/>
          </p:nvPr>
        </p:nvSpPr>
        <p:spPr>
          <a:xfrm>
            <a:off x="6176142" y="377072"/>
            <a:ext cx="5558655" cy="5797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1"/>
          <p:cNvSpPr txBox="1">
            <a:spLocks noGrp="1"/>
          </p:cNvSpPr>
          <p:nvPr>
            <p:ph type="ftr" idx="11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1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1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159" name="Google Shape;159;p31"/>
          <p:cNvCxnSpPr/>
          <p:nvPr/>
        </p:nvCxnSpPr>
        <p:spPr>
          <a:xfrm rot="10800000">
            <a:off x="0" y="6398068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60" name="Google Shape;160;p31"/>
          <p:cNvCxnSpPr/>
          <p:nvPr/>
        </p:nvCxnSpPr>
        <p:spPr>
          <a:xfrm>
            <a:off x="5758174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61" name="Google Shape;161;p31"/>
          <p:cNvCxnSpPr/>
          <p:nvPr/>
        </p:nvCxnSpPr>
        <p:spPr>
          <a:xfrm rot="10800000">
            <a:off x="0" y="1842182"/>
            <a:ext cx="5758174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icture 9">
  <p:cSld name="Content with Picture 9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 txBox="1"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4" name="Google Shape;164;p32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" y="466598"/>
            <a:ext cx="4460008" cy="3601433"/>
          </a:xfrm>
          <a:prstGeom prst="rect">
            <a:avLst/>
          </a:prstGeom>
          <a:blipFill rotWithShape="1">
            <a:blip r:embed="rId2">
              <a:alphaModFix amt="80000"/>
            </a:blip>
            <a:stretch>
              <a:fillRect/>
            </a:stretch>
          </a:blipFill>
          <a:ln>
            <a:noFill/>
          </a:ln>
        </p:spPr>
      </p:pic>
      <p:sp>
        <p:nvSpPr>
          <p:cNvPr id="165" name="Google Shape;165;p32"/>
          <p:cNvSpPr txBox="1">
            <a:spLocks noGrp="1"/>
          </p:cNvSpPr>
          <p:nvPr>
            <p:ph type="body" idx="1"/>
          </p:nvPr>
        </p:nvSpPr>
        <p:spPr>
          <a:xfrm>
            <a:off x="4892635" y="788704"/>
            <a:ext cx="6730614" cy="5385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32"/>
          <p:cNvSpPr txBox="1">
            <a:spLocks noGrp="1"/>
          </p:cNvSpPr>
          <p:nvPr>
            <p:ph type="ftr" idx="11"/>
          </p:nvPr>
        </p:nvSpPr>
        <p:spPr>
          <a:xfrm>
            <a:off x="457200" y="6445997"/>
            <a:ext cx="3543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2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2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169" name="Google Shape;169;p32"/>
          <p:cNvCxnSpPr/>
          <p:nvPr/>
        </p:nvCxnSpPr>
        <p:spPr>
          <a:xfrm rot="10800000">
            <a:off x="0" y="6398068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70" name="Google Shape;170;p32"/>
          <p:cNvCxnSpPr/>
          <p:nvPr/>
        </p:nvCxnSpPr>
        <p:spPr>
          <a:xfrm rot="10800000">
            <a:off x="0" y="4068031"/>
            <a:ext cx="4460008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71" name="Google Shape;171;p32"/>
          <p:cNvCxnSpPr/>
          <p:nvPr/>
        </p:nvCxnSpPr>
        <p:spPr>
          <a:xfrm>
            <a:off x="4460008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72" name="Google Shape;172;p32"/>
          <p:cNvCxnSpPr/>
          <p:nvPr/>
        </p:nvCxnSpPr>
        <p:spPr>
          <a:xfrm rot="10800000">
            <a:off x="0" y="459932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 Large">
  <p:cSld name="Number Large">
    <p:bg>
      <p:bgPr>
        <a:solidFill>
          <a:schemeClr val="dk2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3"/>
          <p:cNvSpPr txBox="1">
            <a:spLocks noGrp="1"/>
          </p:cNvSpPr>
          <p:nvPr>
            <p:ph type="title"/>
          </p:nvPr>
        </p:nvSpPr>
        <p:spPr>
          <a:xfrm>
            <a:off x="1188720" y="5264780"/>
            <a:ext cx="9811512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FDDD0"/>
              </a:buClr>
              <a:buSzPts val="2800"/>
              <a:buFont typeface="Arial"/>
              <a:buNone/>
              <a:defRPr sz="2800" cap="none">
                <a:solidFill>
                  <a:srgbClr val="DFDDD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3"/>
          <p:cNvSpPr txBox="1">
            <a:spLocks noGrp="1"/>
          </p:cNvSpPr>
          <p:nvPr>
            <p:ph type="body" idx="1"/>
          </p:nvPr>
        </p:nvSpPr>
        <p:spPr>
          <a:xfrm>
            <a:off x="493776" y="676656"/>
            <a:ext cx="1120140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FDDD0"/>
              </a:buClr>
              <a:buSzPts val="27800"/>
              <a:buNone/>
              <a:defRPr sz="27800">
                <a:solidFill>
                  <a:srgbClr val="DFDDD0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33"/>
          <p:cNvSpPr txBox="1">
            <a:spLocks noGrp="1"/>
          </p:cNvSpPr>
          <p:nvPr>
            <p:ph type="ftr" idx="11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3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33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180" name="Google Shape;180;p33"/>
          <p:cNvCxnSpPr/>
          <p:nvPr/>
        </p:nvCxnSpPr>
        <p:spPr>
          <a:xfrm rot="10800000">
            <a:off x="0" y="5018669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lt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">
  <p:cSld name="Statement">
    <p:bg>
      <p:bgPr>
        <a:solidFill>
          <a:schemeClr val="dk2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4"/>
          <p:cNvSpPr txBox="1"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34"/>
          <p:cNvSpPr txBox="1">
            <a:spLocks noGrp="1"/>
          </p:cNvSpPr>
          <p:nvPr>
            <p:ph type="body" idx="1"/>
          </p:nvPr>
        </p:nvSpPr>
        <p:spPr>
          <a:xfrm>
            <a:off x="1693103" y="1493520"/>
            <a:ext cx="8805794" cy="39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5400"/>
              <a:buNone/>
              <a:defRPr sz="5400" b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 b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lvl="2" indent="-22860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4400"/>
              <a:buNone/>
              <a:defRPr sz="4400" b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lvl="3" indent="-22860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 sz="4000" b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lvl="4" indent="-22860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 b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34"/>
          <p:cNvSpPr txBox="1">
            <a:spLocks noGrp="1"/>
          </p:cNvSpPr>
          <p:nvPr>
            <p:ph type="ftr" idx="11"/>
          </p:nvPr>
        </p:nvSpPr>
        <p:spPr>
          <a:xfrm>
            <a:off x="640080" y="6445997"/>
            <a:ext cx="39493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4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34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188" name="Google Shape;188;p34"/>
          <p:cNvCxnSpPr/>
          <p:nvPr/>
        </p:nvCxnSpPr>
        <p:spPr>
          <a:xfrm rot="10800000">
            <a:off x="0" y="6398068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lt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89" name="Google Shape;189;p34"/>
          <p:cNvCxnSpPr/>
          <p:nvPr/>
        </p:nvCxnSpPr>
        <p:spPr>
          <a:xfrm>
            <a:off x="457200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lt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90" name="Google Shape;190;p34"/>
          <p:cNvCxnSpPr/>
          <p:nvPr/>
        </p:nvCxnSpPr>
        <p:spPr>
          <a:xfrm rot="10800000">
            <a:off x="0" y="459932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lt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91" name="Google Shape;191;p34"/>
          <p:cNvCxnSpPr/>
          <p:nvPr/>
        </p:nvCxnSpPr>
        <p:spPr>
          <a:xfrm>
            <a:off x="11734800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lt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lt2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BCA7">
              <a:alpha val="9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5"/>
          <p:cNvSpPr txBox="1">
            <a:spLocks noGrp="1"/>
          </p:cNvSpPr>
          <p:nvPr>
            <p:ph type="title"/>
          </p:nvPr>
        </p:nvSpPr>
        <p:spPr>
          <a:xfrm>
            <a:off x="1562100" y="5549186"/>
            <a:ext cx="9199563" cy="65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D4D"/>
              </a:buClr>
              <a:buSzPts val="1800"/>
              <a:buFont typeface="Arial"/>
              <a:buNone/>
              <a:defRPr sz="1800" b="1" cap="none">
                <a:solidFill>
                  <a:srgbClr val="404D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35"/>
          <p:cNvSpPr txBox="1">
            <a:spLocks noGrp="1"/>
          </p:cNvSpPr>
          <p:nvPr>
            <p:ph type="body" idx="1"/>
          </p:nvPr>
        </p:nvSpPr>
        <p:spPr>
          <a:xfrm>
            <a:off x="1562100" y="823913"/>
            <a:ext cx="9199563" cy="3614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04D4D"/>
              </a:buClr>
              <a:buSzPts val="4000"/>
              <a:buNone/>
              <a:defRPr sz="4000">
                <a:solidFill>
                  <a:srgbClr val="404D4D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35"/>
          <p:cNvSpPr txBox="1">
            <a:spLocks noGrp="1"/>
          </p:cNvSpPr>
          <p:nvPr>
            <p:ph type="ftr" idx="11"/>
          </p:nvPr>
        </p:nvSpPr>
        <p:spPr>
          <a:xfrm>
            <a:off x="685800" y="6445997"/>
            <a:ext cx="39493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35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35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199" name="Google Shape;199;p35"/>
          <p:cNvCxnSpPr/>
          <p:nvPr/>
        </p:nvCxnSpPr>
        <p:spPr>
          <a:xfrm>
            <a:off x="457200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30196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00" name="Google Shape;200;p35"/>
          <p:cNvCxnSpPr/>
          <p:nvPr/>
        </p:nvCxnSpPr>
        <p:spPr>
          <a:xfrm rot="10800000">
            <a:off x="0" y="5043721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30196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e contenuti">
  <p:cSld name="Due contenuti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36"/>
          <p:cNvSpPr txBox="1">
            <a:spLocks noGrp="1"/>
          </p:cNvSpPr>
          <p:nvPr>
            <p:ph type="body" idx="1"/>
          </p:nvPr>
        </p:nvSpPr>
        <p:spPr>
          <a:xfrm>
            <a:off x="455613" y="1677988"/>
            <a:ext cx="5181600" cy="449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36"/>
          <p:cNvSpPr txBox="1">
            <a:spLocks noGrp="1"/>
          </p:cNvSpPr>
          <p:nvPr>
            <p:ph type="body" idx="2"/>
          </p:nvPr>
        </p:nvSpPr>
        <p:spPr>
          <a:xfrm>
            <a:off x="6553200" y="1677988"/>
            <a:ext cx="5180013" cy="4498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36"/>
          <p:cNvSpPr txBox="1">
            <a:spLocks noGrp="1"/>
          </p:cNvSpPr>
          <p:nvPr>
            <p:ph type="ftr" idx="11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36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36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208" name="Google Shape;208;p36"/>
          <p:cNvCxnSpPr/>
          <p:nvPr/>
        </p:nvCxnSpPr>
        <p:spPr>
          <a:xfrm>
            <a:off x="6096000" y="1362719"/>
            <a:ext cx="0" cy="5490348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09" name="Google Shape;209;p36"/>
          <p:cNvCxnSpPr/>
          <p:nvPr/>
        </p:nvCxnSpPr>
        <p:spPr>
          <a:xfrm rot="10800000">
            <a:off x="0" y="1362719"/>
            <a:ext cx="12200040" cy="0"/>
          </a:xfrm>
          <a:prstGeom prst="straightConnector1">
            <a:avLst/>
          </a:prstGeom>
          <a:noFill/>
          <a:ln w="9525" cap="flat" cmpd="sng">
            <a:solidFill>
              <a:srgbClr val="616867">
                <a:alpha val="45098"/>
              </a:srgb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>
  <p:cSld name="Confronto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37"/>
          <p:cNvSpPr txBox="1"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0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3" name="Google Shape;213;p37"/>
          <p:cNvSpPr txBox="1">
            <a:spLocks noGrp="1"/>
          </p:cNvSpPr>
          <p:nvPr>
            <p:ph type="body" idx="2"/>
          </p:nvPr>
        </p:nvSpPr>
        <p:spPr>
          <a:xfrm>
            <a:off x="457200" y="2522538"/>
            <a:ext cx="5178425" cy="380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37"/>
          <p:cNvSpPr txBox="1">
            <a:spLocks noGrp="1"/>
          </p:cNvSpPr>
          <p:nvPr>
            <p:ph type="body" idx="3"/>
          </p:nvPr>
        </p:nvSpPr>
        <p:spPr>
          <a:xfrm>
            <a:off x="6556248" y="1475622"/>
            <a:ext cx="5184648" cy="67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0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5" name="Google Shape;215;p37"/>
          <p:cNvSpPr txBox="1">
            <a:spLocks noGrp="1"/>
          </p:cNvSpPr>
          <p:nvPr>
            <p:ph type="body" idx="4"/>
          </p:nvPr>
        </p:nvSpPr>
        <p:spPr>
          <a:xfrm>
            <a:off x="6556375" y="2522538"/>
            <a:ext cx="5175249" cy="380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37"/>
          <p:cNvSpPr txBox="1">
            <a:spLocks noGrp="1"/>
          </p:cNvSpPr>
          <p:nvPr>
            <p:ph type="ftr" idx="11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37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37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219" name="Google Shape;219;p37"/>
          <p:cNvCxnSpPr/>
          <p:nvPr/>
        </p:nvCxnSpPr>
        <p:spPr>
          <a:xfrm>
            <a:off x="6096000" y="1362719"/>
            <a:ext cx="0" cy="5490348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20" name="Google Shape;220;p37"/>
          <p:cNvCxnSpPr/>
          <p:nvPr/>
        </p:nvCxnSpPr>
        <p:spPr>
          <a:xfrm rot="10800000">
            <a:off x="0" y="2268129"/>
            <a:ext cx="12192000" cy="0"/>
          </a:xfrm>
          <a:prstGeom prst="straightConnector1">
            <a:avLst/>
          </a:prstGeom>
          <a:noFill/>
          <a:ln w="9525" cap="flat" cmpd="sng">
            <a:solidFill>
              <a:schemeClr val="dk2">
                <a:alpha val="25098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21" name="Google Shape;221;p37"/>
          <p:cNvCxnSpPr/>
          <p:nvPr/>
        </p:nvCxnSpPr>
        <p:spPr>
          <a:xfrm rot="10800000">
            <a:off x="0" y="1362719"/>
            <a:ext cx="12200040" cy="0"/>
          </a:xfrm>
          <a:prstGeom prst="straightConnector1">
            <a:avLst/>
          </a:prstGeom>
          <a:noFill/>
          <a:ln w="9525" cap="flat" cmpd="sng">
            <a:solidFill>
              <a:srgbClr val="616867">
                <a:alpha val="45098"/>
              </a:srgb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 type="blank">
  <p:cSld name="BLANK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8"/>
          <p:cNvSpPr txBox="1">
            <a:spLocks noGrp="1"/>
          </p:cNvSpPr>
          <p:nvPr>
            <p:ph type="ftr" idx="11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38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38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lusion">
  <p:cSld name="Conclusion">
    <p:bg>
      <p:bgPr>
        <a:solidFill>
          <a:schemeClr val="lt2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DD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9"/>
          <p:cNvSpPr txBox="1"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Play"/>
              <a:buNone/>
              <a:defRPr sz="6000"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39"/>
          <p:cNvSpPr txBox="1">
            <a:spLocks noGrp="1"/>
          </p:cNvSpPr>
          <p:nvPr>
            <p:ph type="body" idx="1"/>
          </p:nvPr>
        </p:nvSpPr>
        <p:spPr>
          <a:xfrm>
            <a:off x="457199" y="3528206"/>
            <a:ext cx="11122509" cy="2754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39"/>
          <p:cNvSpPr txBox="1">
            <a:spLocks noGrp="1"/>
          </p:cNvSpPr>
          <p:nvPr>
            <p:ph type="ftr" idx="11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39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39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233" name="Google Shape;233;p39"/>
          <p:cNvCxnSpPr/>
          <p:nvPr/>
        </p:nvCxnSpPr>
        <p:spPr>
          <a:xfrm rot="10800000">
            <a:off x="0" y="3191402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4D4D4D">
                <a:alpha val="30196"/>
              </a:srgb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lusion 2">
  <p:cSld name="Conclusion 2">
    <p:bg>
      <p:bgPr>
        <a:solidFill>
          <a:schemeClr val="lt2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DD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0"/>
          <p:cNvSpPr txBox="1"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Play"/>
              <a:buNone/>
              <a:defRPr sz="6000"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40"/>
          <p:cNvSpPr txBox="1">
            <a:spLocks noGrp="1"/>
          </p:cNvSpPr>
          <p:nvPr>
            <p:ph type="body" idx="1"/>
          </p:nvPr>
        </p:nvSpPr>
        <p:spPr>
          <a:xfrm>
            <a:off x="457200" y="3528206"/>
            <a:ext cx="6768193" cy="1794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40"/>
          <p:cNvSpPr txBox="1">
            <a:spLocks noGrp="1"/>
          </p:cNvSpPr>
          <p:nvPr>
            <p:ph type="ftr" idx="11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40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40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  <p:cxnSp>
        <p:nvCxnSpPr>
          <p:cNvPr id="241" name="Google Shape;241;p40"/>
          <p:cNvCxnSpPr/>
          <p:nvPr/>
        </p:nvCxnSpPr>
        <p:spPr>
          <a:xfrm rot="10800000">
            <a:off x="0" y="3191402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4D4D4D">
                <a:alpha val="30196"/>
              </a:srgbClr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  <a:defRPr sz="3200" b="0" i="0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ftr" idx="11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dt" idx="10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"/>
          <p:cNvSpPr txBox="1">
            <a:spLocks noGrp="1"/>
          </p:cNvSpPr>
          <p:nvPr>
            <p:ph type="ctrTitle"/>
          </p:nvPr>
        </p:nvSpPr>
        <p:spPr>
          <a:xfrm>
            <a:off x="0" y="508975"/>
            <a:ext cx="12192000" cy="3050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lay"/>
              <a:buNone/>
            </a:pPr>
            <a:r>
              <a:rPr lang="en-US"/>
              <a:t>Food Recognition with Custom CNNs</a:t>
            </a:r>
            <a:endParaRPr/>
          </a:p>
        </p:txBody>
      </p:sp>
      <p:sp>
        <p:nvSpPr>
          <p:cNvPr id="247" name="Google Shape;247;p1"/>
          <p:cNvSpPr txBox="1">
            <a:spLocks noGrp="1"/>
          </p:cNvSpPr>
          <p:nvPr>
            <p:ph type="subTitle" idx="1"/>
          </p:nvPr>
        </p:nvSpPr>
        <p:spPr>
          <a:xfrm>
            <a:off x="1442257" y="2569914"/>
            <a:ext cx="9307485" cy="1184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</a:pPr>
            <a:r>
              <a:rPr lang="en-US" sz="2500" b="1" i="1"/>
              <a:t>Supervised Training versus Self-Supervised Pretraining on iFood2019</a:t>
            </a:r>
            <a:endParaRPr/>
          </a:p>
        </p:txBody>
      </p:sp>
      <p:sp>
        <p:nvSpPr>
          <p:cNvPr id="248" name="Google Shape;248;p1"/>
          <p:cNvSpPr txBox="1"/>
          <p:nvPr/>
        </p:nvSpPr>
        <p:spPr>
          <a:xfrm>
            <a:off x="2509058" y="5222870"/>
            <a:ext cx="2784838" cy="1184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None/>
            </a:pPr>
            <a:r>
              <a:rPr lang="en-US" sz="2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Angelica Iseni </a:t>
            </a:r>
            <a:endParaRPr dirty="0"/>
          </a:p>
        </p:txBody>
      </p:sp>
      <p:sp>
        <p:nvSpPr>
          <p:cNvPr id="249" name="Google Shape;249;p1"/>
          <p:cNvSpPr txBox="1"/>
          <p:nvPr/>
        </p:nvSpPr>
        <p:spPr>
          <a:xfrm>
            <a:off x="6898106" y="5164990"/>
            <a:ext cx="2784838" cy="1184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None/>
            </a:pPr>
            <a:r>
              <a:rPr lang="en-US" sz="2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Kevin Del Gaudio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"/>
          <p:cNvSpPr txBox="1">
            <a:spLocks noGrp="1"/>
          </p:cNvSpPr>
          <p:nvPr>
            <p:ph type="title"/>
          </p:nvPr>
        </p:nvSpPr>
        <p:spPr>
          <a:xfrm>
            <a:off x="838200" y="276727"/>
            <a:ext cx="10515600" cy="115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Play"/>
              <a:buNone/>
            </a:pPr>
            <a:r>
              <a:rPr lang="en-US" sz="4600"/>
              <a:t>Project Overview </a:t>
            </a:r>
            <a:endParaRPr/>
          </a:p>
        </p:txBody>
      </p:sp>
      <p:sp>
        <p:nvSpPr>
          <p:cNvPr id="255" name="Google Shape;255;p2"/>
          <p:cNvSpPr txBox="1"/>
          <p:nvPr/>
        </p:nvSpPr>
        <p:spPr>
          <a:xfrm>
            <a:off x="0" y="508975"/>
            <a:ext cx="12192000" cy="3050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</a:pPr>
            <a:endParaRPr sz="3200" b="0" i="0" u="none" strike="noStrike" cap="non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6" name="Google Shape;256;p2"/>
          <p:cNvSpPr/>
          <p:nvPr/>
        </p:nvSpPr>
        <p:spPr>
          <a:xfrm>
            <a:off x="1722120" y="1581912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000"/>
              <a:buFont typeface="Play"/>
              <a:buNone/>
            </a:pPr>
            <a:r>
              <a:rPr lang="en-US" sz="2000" b="0" i="0" u="none" strike="noStrike" cap="none">
                <a:solidFill>
                  <a:srgbClr val="993300"/>
                </a:solidFill>
                <a:latin typeface="Play"/>
                <a:ea typeface="Play"/>
                <a:cs typeface="Play"/>
                <a:sym typeface="Play"/>
              </a:rPr>
              <a:t>1. Problem &amp; data</a:t>
            </a:r>
            <a:endParaRPr sz="2000" b="0" i="0" u="none" strike="noStrike" cap="none">
              <a:solidFill>
                <a:srgbClr val="9933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7" name="Google Shape;257;p2"/>
          <p:cNvSpPr/>
          <p:nvPr/>
        </p:nvSpPr>
        <p:spPr>
          <a:xfrm>
            <a:off x="5699760" y="1581912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Fine-grained food recognition on 251 noisy, web-collected classes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"/>
          <p:cNvSpPr/>
          <p:nvPr/>
        </p:nvSpPr>
        <p:spPr>
          <a:xfrm>
            <a:off x="1722120" y="2478024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000"/>
              <a:buFont typeface="Play"/>
              <a:buNone/>
            </a:pPr>
            <a:r>
              <a:rPr lang="en-US" sz="2000" b="0" i="0" u="none" strike="noStrike" cap="none">
                <a:solidFill>
                  <a:srgbClr val="993300"/>
                </a:solidFill>
                <a:latin typeface="Play"/>
                <a:ea typeface="Play"/>
                <a:cs typeface="Play"/>
                <a:sym typeface="Play"/>
              </a:rPr>
              <a:t>2. Shared protocol</a:t>
            </a:r>
            <a:endParaRPr sz="2000" b="0" i="0" u="none" strike="noStrike" cap="none">
              <a:solidFill>
                <a:srgbClr val="9933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9" name="Google Shape;259;p2"/>
          <p:cNvSpPr/>
          <p:nvPr/>
        </p:nvSpPr>
        <p:spPr>
          <a:xfrm>
            <a:off x="5699760" y="2478024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One data module, one training loop, one evaluation for every run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"/>
          <p:cNvSpPr/>
          <p:nvPr/>
        </p:nvSpPr>
        <p:spPr>
          <a:xfrm>
            <a:off x="1722120" y="3374136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000"/>
              <a:buFont typeface="Play"/>
              <a:buNone/>
            </a:pPr>
            <a:r>
              <a:rPr lang="en-US" sz="2000" b="0" i="0" u="none" strike="noStrike" cap="none">
                <a:solidFill>
                  <a:srgbClr val="993300"/>
                </a:solidFill>
                <a:latin typeface="Play"/>
                <a:ea typeface="Play"/>
                <a:cs typeface="Play"/>
                <a:sym typeface="Play"/>
              </a:rPr>
              <a:t>3. Supervised models</a:t>
            </a:r>
            <a:endParaRPr sz="2000" b="0" i="0" u="none" strike="noStrike" cap="none">
              <a:solidFill>
                <a:srgbClr val="9933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1" name="Google Shape;261;p2"/>
          <p:cNvSpPr/>
          <p:nvPr/>
        </p:nvSpPr>
        <p:spPr>
          <a:xfrm>
            <a:off x="5699760" y="3374136"/>
            <a:ext cx="6492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Base CNN → Residual CNN → Fine-tuned EfficientNet-B0, all under 10M params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"/>
          <p:cNvSpPr/>
          <p:nvPr/>
        </p:nvSpPr>
        <p:spPr>
          <a:xfrm>
            <a:off x="1722120" y="4270248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000"/>
              <a:buFont typeface="Play"/>
              <a:buNone/>
            </a:pPr>
            <a:r>
              <a:rPr lang="en-US" sz="2000" b="0" i="0" u="none" strike="noStrike" cap="none">
                <a:solidFill>
                  <a:srgbClr val="993300"/>
                </a:solidFill>
                <a:latin typeface="Play"/>
                <a:ea typeface="Play"/>
                <a:cs typeface="Play"/>
                <a:sym typeface="Play"/>
              </a:rPr>
              <a:t>4. Self-supervised pretraining</a:t>
            </a:r>
            <a:endParaRPr sz="2000" b="0" i="0" u="none" strike="noStrike" cap="none">
              <a:solidFill>
                <a:srgbClr val="9933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3" name="Google Shape;263;p2"/>
          <p:cNvSpPr/>
          <p:nvPr/>
        </p:nvSpPr>
        <p:spPr>
          <a:xfrm>
            <a:off x="5699760" y="4270248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Colorization vs. SimCLR-style contrastive learning, probed on frozen features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"/>
          <p:cNvSpPr/>
          <p:nvPr/>
        </p:nvSpPr>
        <p:spPr>
          <a:xfrm>
            <a:off x="1722120" y="516636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000"/>
              <a:buFont typeface="Play"/>
              <a:buNone/>
            </a:pPr>
            <a:r>
              <a:rPr lang="en-US" sz="2000" b="0" i="0" u="none" strike="noStrike" cap="none">
                <a:solidFill>
                  <a:srgbClr val="993300"/>
                </a:solidFill>
                <a:latin typeface="Play"/>
                <a:ea typeface="Play"/>
                <a:cs typeface="Play"/>
                <a:sym typeface="Play"/>
              </a:rPr>
              <a:t>5. Results &amp; takeaways</a:t>
            </a:r>
            <a:endParaRPr sz="2000" b="0" i="0" u="none" strike="noStrike" cap="none">
              <a:solidFill>
                <a:srgbClr val="9933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5" name="Google Shape;265;p2"/>
          <p:cNvSpPr/>
          <p:nvPr/>
        </p:nvSpPr>
        <p:spPr>
          <a:xfrm>
            <a:off x="5699760" y="516636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What worked, what didn't, and why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"/>
          <p:cNvSpPr txBox="1">
            <a:spLocks noGrp="1"/>
          </p:cNvSpPr>
          <p:nvPr>
            <p:ph type="title"/>
          </p:nvPr>
        </p:nvSpPr>
        <p:spPr>
          <a:xfrm>
            <a:off x="838200" y="276727"/>
            <a:ext cx="10515600" cy="115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Play"/>
              <a:buNone/>
            </a:pPr>
            <a:r>
              <a:rPr lang="en-US" sz="4600"/>
              <a:t>Why food recogn</a:t>
            </a:r>
            <a:r>
              <a:rPr lang="en-US" sz="4600">
                <a:solidFill>
                  <a:srgbClr val="5C4C48"/>
                </a:solidFill>
              </a:rPr>
              <a:t>ition is hard?</a:t>
            </a:r>
            <a:endParaRPr sz="4600"/>
          </a:p>
        </p:txBody>
      </p:sp>
      <p:sp>
        <p:nvSpPr>
          <p:cNvPr id="271" name="Google Shape;271;p3"/>
          <p:cNvSpPr txBox="1"/>
          <p:nvPr/>
        </p:nvSpPr>
        <p:spPr>
          <a:xfrm>
            <a:off x="0" y="508975"/>
            <a:ext cx="12192000" cy="3050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</a:pPr>
            <a:endParaRPr sz="3200" b="0" i="0" u="none" strike="noStrike" cap="non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2" name="Google Shape;272;p3"/>
          <p:cNvSpPr/>
          <p:nvPr/>
        </p:nvSpPr>
        <p:spPr>
          <a:xfrm>
            <a:off x="424999" y="1600200"/>
            <a:ext cx="11082921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1900"/>
              <a:buFont typeface="Calibri"/>
              <a:buNone/>
            </a:pPr>
            <a:r>
              <a:rPr lang="en-US" sz="1900" b="0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Fine-grained classification</a:t>
            </a:r>
            <a:r>
              <a:rPr lang="en-US" sz="1900" b="1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: many dishes differ only in small visual details</a:t>
            </a: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"/>
          <p:cNvSpPr/>
          <p:nvPr/>
        </p:nvSpPr>
        <p:spPr>
          <a:xfrm>
            <a:off x="1466177" y="2568103"/>
            <a:ext cx="184163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Cannellon</a:t>
            </a:r>
            <a:r>
              <a:rPr lang="en-US" sz="14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i vs. </a:t>
            </a:r>
            <a:r>
              <a:rPr lang="en-US" sz="14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Lasagna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"/>
          <p:cNvSpPr/>
          <p:nvPr/>
        </p:nvSpPr>
        <p:spPr>
          <a:xfrm>
            <a:off x="4954578" y="2589345"/>
            <a:ext cx="228225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Coffee cake </a:t>
            </a:r>
            <a:r>
              <a:rPr lang="en-US" sz="14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vs. </a:t>
            </a:r>
            <a:r>
              <a:rPr lang="en-US" sz="14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Marble cake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"/>
          <p:cNvSpPr/>
          <p:nvPr/>
        </p:nvSpPr>
        <p:spPr>
          <a:xfrm>
            <a:off x="9186627" y="2589345"/>
            <a:ext cx="2321293" cy="32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Tenderloin</a:t>
            </a:r>
            <a:r>
              <a:rPr lang="en-US" sz="14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 vs. </a:t>
            </a:r>
            <a:r>
              <a:rPr lang="en-US" sz="14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Pork chop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"/>
          <p:cNvSpPr/>
          <p:nvPr/>
        </p:nvSpPr>
        <p:spPr>
          <a:xfrm>
            <a:off x="1059993" y="4822236"/>
            <a:ext cx="105460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1" u="none" strike="noStrike" cap="non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On top of that: </a:t>
            </a:r>
            <a:r>
              <a:rPr lang="en-US" sz="1900" b="1" i="1" u="none" strike="noStrike" cap="non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uneven lighting</a:t>
            </a:r>
            <a:r>
              <a:rPr lang="en-US" sz="1900" b="0" i="1" u="none" strike="noStrike" cap="non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900" b="1" i="1" u="none" strike="noStrike" cap="non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angle and plating</a:t>
            </a:r>
            <a:r>
              <a:rPr lang="en-US" sz="1900" b="0" i="1" u="none" strike="noStrike" cap="non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900" b="1" i="1" u="none" strike="noStrike" cap="non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web-collected training labels </a:t>
            </a:r>
            <a:r>
              <a:rPr lang="en-US" sz="1900" b="0" i="1" u="none" strike="noStrike" cap="non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that </a:t>
            </a:r>
            <a:r>
              <a:rPr lang="en-US" sz="1900" b="1" i="1" u="none" strike="noStrike" cap="non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are noisy</a:t>
            </a:r>
            <a:r>
              <a:rPr lang="en-US" sz="1900" b="0" i="1" u="none" strike="noStrike" cap="non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, a </a:t>
            </a:r>
            <a:r>
              <a:rPr lang="en-US" sz="1900" b="1" i="1" u="none" strike="noStrike" cap="non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validation/test set that</a:t>
            </a:r>
            <a:r>
              <a:rPr lang="en-US" sz="1900" b="0" i="1" u="none" strike="noStrike" cap="non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1900" b="1" i="1" u="none" strike="noStrike" cap="non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human-verified</a:t>
            </a:r>
            <a:r>
              <a:rPr lang="en-US" sz="1900" b="0" i="1" u="none" strike="noStrike" cap="non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900" b="1" i="1" u="none" strike="noStrike" cap="non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high intra-class variability </a:t>
            </a:r>
            <a:r>
              <a:rPr lang="en-US" sz="1900" b="0" i="1" u="none" strike="noStrike" cap="non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1900" b="1" i="1" u="none" strike="noStrike" cap="non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low inter-class variability</a:t>
            </a:r>
            <a:endParaRPr sz="1900" b="1" i="1" u="none" strike="noStrike" cap="none">
              <a:solidFill>
                <a:srgbClr val="4D4D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3"/>
          <p:cNvPicPr preferRelativeResize="0"/>
          <p:nvPr/>
        </p:nvPicPr>
        <p:blipFill rotWithShape="1">
          <a:blip r:embed="rId3">
            <a:alphaModFix/>
          </a:blip>
          <a:srcRect r="-12752"/>
          <a:stretch/>
        </p:blipFill>
        <p:spPr>
          <a:xfrm>
            <a:off x="2503659" y="3040407"/>
            <a:ext cx="1608304" cy="1433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708" y="3047738"/>
            <a:ext cx="1426402" cy="1426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19461" y="2997898"/>
            <a:ext cx="1476242" cy="1476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8520" y="2997898"/>
            <a:ext cx="1476242" cy="1476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"/>
          <p:cNvPicPr preferRelativeResize="0"/>
          <p:nvPr/>
        </p:nvPicPr>
        <p:blipFill rotWithShape="1">
          <a:blip r:embed="rId7">
            <a:alphaModFix/>
          </a:blip>
          <a:srcRect t="3518" b="16147"/>
          <a:stretch/>
        </p:blipFill>
        <p:spPr>
          <a:xfrm>
            <a:off x="10179670" y="2997898"/>
            <a:ext cx="1426403" cy="142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31464" y="2997898"/>
            <a:ext cx="1426403" cy="1426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"/>
          <p:cNvSpPr txBox="1">
            <a:spLocks noGrp="1"/>
          </p:cNvSpPr>
          <p:nvPr>
            <p:ph type="title"/>
          </p:nvPr>
        </p:nvSpPr>
        <p:spPr>
          <a:xfrm>
            <a:off x="838200" y="276727"/>
            <a:ext cx="10515600" cy="115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4600"/>
              <a:buFont typeface="Play"/>
              <a:buNone/>
            </a:pPr>
            <a:r>
              <a:rPr lang="en-US" sz="4600">
                <a:solidFill>
                  <a:srgbClr val="5C4C48"/>
                </a:solidFill>
              </a:rPr>
              <a:t>One shared training protocol</a:t>
            </a:r>
            <a:endParaRPr sz="4600"/>
          </a:p>
        </p:txBody>
      </p:sp>
      <p:sp>
        <p:nvSpPr>
          <p:cNvPr id="288" name="Google Shape;288;p4"/>
          <p:cNvSpPr txBox="1"/>
          <p:nvPr/>
        </p:nvSpPr>
        <p:spPr>
          <a:xfrm>
            <a:off x="0" y="508975"/>
            <a:ext cx="12192000" cy="3050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</a:pPr>
            <a:endParaRPr sz="3200" b="0" i="0" u="none" strike="noStrike" cap="non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89" name="Google Shape;289;p4"/>
          <p:cNvSpPr/>
          <p:nvPr/>
        </p:nvSpPr>
        <p:spPr>
          <a:xfrm>
            <a:off x="424999" y="1600200"/>
            <a:ext cx="11082921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Every supervised run </a:t>
            </a:r>
            <a:r>
              <a:rPr lang="en-US" sz="1900" b="0" i="0" u="none" strike="noStrike" cap="non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shares the </a:t>
            </a:r>
            <a:r>
              <a:rPr lang="en-US" sz="1900" b="1" i="0" u="none" strike="noStrike" cap="non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same wrapper (PyTorch + Lightning)</a:t>
            </a:r>
            <a:r>
              <a:rPr lang="en-US" sz="1900" b="0" i="0" u="none" strike="noStrike" cap="non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, so </a:t>
            </a:r>
            <a:r>
              <a:rPr lang="en-US" sz="1900" b="1" i="0" u="none" strike="noStrike" cap="non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rPr>
              <a:t>comparisons isolate architecture</a:t>
            </a:r>
            <a:endParaRPr sz="1900" b="1" i="0" u="none" strike="noStrike" cap="none">
              <a:solidFill>
                <a:srgbClr val="4D4D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"/>
          <p:cNvSpPr/>
          <p:nvPr/>
        </p:nvSpPr>
        <p:spPr>
          <a:xfrm>
            <a:off x="546083" y="3559741"/>
            <a:ext cx="2414016" cy="736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Cross-entropy </a:t>
            </a: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5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label smoothing </a:t>
            </a: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(training labels are noisy)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"/>
          <p:cNvSpPr/>
          <p:nvPr/>
        </p:nvSpPr>
        <p:spPr>
          <a:xfrm>
            <a:off x="3410419" y="3559741"/>
            <a:ext cx="2414016" cy="1385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Weight decay 1e-4 </a:t>
            </a: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lang="en-US" sz="15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weights/kernels </a:t>
            </a: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endParaRPr/>
          </a:p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Dropout 0.3 </a:t>
            </a: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default (</a:t>
            </a:r>
            <a:r>
              <a:rPr lang="en-US" sz="15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0.5 ablation </a:t>
            </a: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lang="en-US" sz="15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residual net</a:t>
            </a: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"/>
          <p:cNvSpPr/>
          <p:nvPr/>
        </p:nvSpPr>
        <p:spPr>
          <a:xfrm>
            <a:off x="6271804" y="3559741"/>
            <a:ext cx="2414016" cy="1698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Base net</a:t>
            </a: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5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Adam 1e-3</a:t>
            </a: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5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plateau schedule</a:t>
            </a:r>
            <a:endParaRPr sz="1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Deeper nets</a:t>
            </a: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5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AdamW</a:t>
            </a: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5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warm-up</a:t>
            </a: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sz="15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cosine</a:t>
            </a: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 to 1e-6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"/>
          <p:cNvSpPr/>
          <p:nvPr/>
        </p:nvSpPr>
        <p:spPr>
          <a:xfrm>
            <a:off x="9179596" y="3640625"/>
            <a:ext cx="2414016" cy="176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Up to 150 epochs, </a:t>
            </a:r>
            <a:r>
              <a:rPr lang="en-US" sz="15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early stop on val. accuracy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(patience 10, 15 for fine-tuned model)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"/>
          <p:cNvSpPr/>
          <p:nvPr/>
        </p:nvSpPr>
        <p:spPr>
          <a:xfrm>
            <a:off x="540184" y="3283974"/>
            <a:ext cx="2414015" cy="2192594"/>
          </a:xfrm>
          <a:prstGeom prst="rect">
            <a:avLst/>
          </a:prstGeom>
          <a:noFill/>
          <a:ln w="19050" cap="flat" cmpd="sng">
            <a:solidFill>
              <a:srgbClr val="99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"/>
          <p:cNvSpPr/>
          <p:nvPr/>
        </p:nvSpPr>
        <p:spPr>
          <a:xfrm>
            <a:off x="3416319" y="3283974"/>
            <a:ext cx="2414015" cy="2192594"/>
          </a:xfrm>
          <a:prstGeom prst="rect">
            <a:avLst/>
          </a:prstGeom>
          <a:noFill/>
          <a:ln w="19050" cap="flat" cmpd="sng">
            <a:solidFill>
              <a:srgbClr val="99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"/>
          <p:cNvSpPr/>
          <p:nvPr/>
        </p:nvSpPr>
        <p:spPr>
          <a:xfrm>
            <a:off x="6286554" y="3283974"/>
            <a:ext cx="2414015" cy="2192594"/>
          </a:xfrm>
          <a:prstGeom prst="rect">
            <a:avLst/>
          </a:prstGeom>
          <a:noFill/>
          <a:ln w="19050" cap="flat" cmpd="sng">
            <a:solidFill>
              <a:srgbClr val="99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"/>
          <p:cNvSpPr/>
          <p:nvPr/>
        </p:nvSpPr>
        <p:spPr>
          <a:xfrm>
            <a:off x="9194345" y="3298259"/>
            <a:ext cx="2414015" cy="2192594"/>
          </a:xfrm>
          <a:prstGeom prst="rect">
            <a:avLst/>
          </a:prstGeom>
          <a:noFill/>
          <a:ln w="19050" cap="flat" cmpd="sng">
            <a:solidFill>
              <a:srgbClr val="99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"/>
          <p:cNvSpPr/>
          <p:nvPr/>
        </p:nvSpPr>
        <p:spPr>
          <a:xfrm>
            <a:off x="546084" y="2920181"/>
            <a:ext cx="2408116" cy="36379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34261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"/>
          <p:cNvSpPr/>
          <p:nvPr/>
        </p:nvSpPr>
        <p:spPr>
          <a:xfrm>
            <a:off x="3410419" y="2908396"/>
            <a:ext cx="2408116" cy="36379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34261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"/>
          <p:cNvSpPr/>
          <p:nvPr/>
        </p:nvSpPr>
        <p:spPr>
          <a:xfrm>
            <a:off x="6286554" y="2900284"/>
            <a:ext cx="2408116" cy="36379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34261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"/>
          <p:cNvSpPr/>
          <p:nvPr/>
        </p:nvSpPr>
        <p:spPr>
          <a:xfrm>
            <a:off x="9197294" y="2910116"/>
            <a:ext cx="2408116" cy="363793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34261A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"/>
          <p:cNvSpPr txBox="1"/>
          <p:nvPr/>
        </p:nvSpPr>
        <p:spPr>
          <a:xfrm>
            <a:off x="963561" y="2928927"/>
            <a:ext cx="1602658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Loss</a:t>
            </a:r>
            <a:endParaRPr/>
          </a:p>
        </p:txBody>
      </p:sp>
      <p:sp>
        <p:nvSpPr>
          <p:cNvPr id="303" name="Google Shape;303;p4"/>
          <p:cNvSpPr txBox="1"/>
          <p:nvPr/>
        </p:nvSpPr>
        <p:spPr>
          <a:xfrm>
            <a:off x="3651525" y="2909625"/>
            <a:ext cx="1937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Regularization</a:t>
            </a:r>
            <a:endParaRPr sz="19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"/>
          <p:cNvSpPr txBox="1"/>
          <p:nvPr/>
        </p:nvSpPr>
        <p:spPr>
          <a:xfrm>
            <a:off x="6677483" y="2889987"/>
            <a:ext cx="1602658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Optimisers</a:t>
            </a:r>
            <a:endParaRPr sz="19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"/>
          <p:cNvSpPr txBox="1"/>
          <p:nvPr/>
        </p:nvSpPr>
        <p:spPr>
          <a:xfrm>
            <a:off x="9585275" y="2885766"/>
            <a:ext cx="1602658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Stopping</a:t>
            </a:r>
            <a:endParaRPr sz="19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"/>
          <p:cNvSpPr txBox="1">
            <a:spLocks noGrp="1"/>
          </p:cNvSpPr>
          <p:nvPr>
            <p:ph type="title"/>
          </p:nvPr>
        </p:nvSpPr>
        <p:spPr>
          <a:xfrm>
            <a:off x="838200" y="276727"/>
            <a:ext cx="10515600" cy="115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4600"/>
              <a:buFont typeface="Play"/>
              <a:buNone/>
            </a:pPr>
            <a:r>
              <a:rPr lang="en-US" sz="4600">
                <a:solidFill>
                  <a:srgbClr val="5C4C48"/>
                </a:solidFill>
              </a:rPr>
              <a:t>Dataset and preprocessing </a:t>
            </a:r>
            <a:endParaRPr sz="4600"/>
          </a:p>
        </p:txBody>
      </p:sp>
      <p:sp>
        <p:nvSpPr>
          <p:cNvPr id="311" name="Google Shape;311;p5"/>
          <p:cNvSpPr txBox="1"/>
          <p:nvPr/>
        </p:nvSpPr>
        <p:spPr>
          <a:xfrm>
            <a:off x="0" y="508975"/>
            <a:ext cx="12192000" cy="115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</a:pPr>
            <a:endParaRPr sz="3200" b="0" i="0" u="none" strike="noStrike" cap="non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12" name="Google Shape;312;p5"/>
          <p:cNvSpPr/>
          <p:nvPr/>
        </p:nvSpPr>
        <p:spPr>
          <a:xfrm>
            <a:off x="548640" y="1737360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251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5"/>
          <p:cNvSpPr/>
          <p:nvPr/>
        </p:nvSpPr>
        <p:spPr>
          <a:xfrm>
            <a:off x="548640" y="237744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"/>
          <p:cNvSpPr/>
          <p:nvPr/>
        </p:nvSpPr>
        <p:spPr>
          <a:xfrm>
            <a:off x="3337560" y="1737360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118,475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5"/>
          <p:cNvSpPr/>
          <p:nvPr/>
        </p:nvSpPr>
        <p:spPr>
          <a:xfrm>
            <a:off x="3337560" y="237744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training images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5"/>
          <p:cNvSpPr/>
          <p:nvPr/>
        </p:nvSpPr>
        <p:spPr>
          <a:xfrm>
            <a:off x="6126480" y="1737360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5"/>
          <p:cNvSpPr/>
          <p:nvPr/>
        </p:nvSpPr>
        <p:spPr>
          <a:xfrm>
            <a:off x="6786962" y="2377440"/>
            <a:ext cx="13765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per-class cap (60th pct.)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"/>
          <p:cNvSpPr/>
          <p:nvPr/>
        </p:nvSpPr>
        <p:spPr>
          <a:xfrm>
            <a:off x="8915400" y="1737360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224×224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5"/>
          <p:cNvSpPr/>
          <p:nvPr/>
        </p:nvSpPr>
        <p:spPr>
          <a:xfrm>
            <a:off x="8915400" y="237744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input resolution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5"/>
          <p:cNvSpPr/>
          <p:nvPr/>
        </p:nvSpPr>
        <p:spPr>
          <a:xfrm>
            <a:off x="4732020" y="3904281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993300"/>
                </a:solidFill>
                <a:latin typeface="Calibri"/>
                <a:ea typeface="Calibri"/>
                <a:cs typeface="Calibri"/>
                <a:sym typeface="Calibri"/>
              </a:rPr>
              <a:t>Splits &amp; label quality</a:t>
            </a:r>
            <a:endParaRPr sz="1900" b="0" i="0" u="none" strike="noStrike" cap="none">
              <a:solidFill>
                <a:srgbClr val="99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5"/>
          <p:cNvSpPr/>
          <p:nvPr/>
        </p:nvSpPr>
        <p:spPr>
          <a:xfrm>
            <a:off x="4636237" y="4270041"/>
            <a:ext cx="7199179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Official validation set used only once per model as the held-out test (11,994 images)</a:t>
            </a:r>
            <a:endParaRPr/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5C4C48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85% / 15% stratified train/val split carved from the capped training set (fixed seed, identical across every notebook).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5C4C48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Training labels are web-crawled and noisy; validation/test labels are human-verified.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061394"/>
            <a:ext cx="3956175" cy="279660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5"/>
          <p:cNvSpPr/>
          <p:nvPr/>
        </p:nvSpPr>
        <p:spPr>
          <a:xfrm>
            <a:off x="1199535" y="1737360"/>
            <a:ext cx="1376516" cy="128114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99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5"/>
          <p:cNvSpPr/>
          <p:nvPr/>
        </p:nvSpPr>
        <p:spPr>
          <a:xfrm>
            <a:off x="3947979" y="1740310"/>
            <a:ext cx="1376516" cy="128114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99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5"/>
          <p:cNvSpPr/>
          <p:nvPr/>
        </p:nvSpPr>
        <p:spPr>
          <a:xfrm>
            <a:off x="6741242" y="1724033"/>
            <a:ext cx="1376516" cy="128114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99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5"/>
          <p:cNvSpPr/>
          <p:nvPr/>
        </p:nvSpPr>
        <p:spPr>
          <a:xfrm>
            <a:off x="9530162" y="1736868"/>
            <a:ext cx="1376516" cy="128114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99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"/>
          <p:cNvSpPr txBox="1">
            <a:spLocks noGrp="1"/>
          </p:cNvSpPr>
          <p:nvPr>
            <p:ph type="title"/>
          </p:nvPr>
        </p:nvSpPr>
        <p:spPr>
          <a:xfrm>
            <a:off x="838200" y="276727"/>
            <a:ext cx="10515600" cy="115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4600"/>
              <a:buFont typeface="Play"/>
              <a:buNone/>
            </a:pPr>
            <a:r>
              <a:rPr lang="en-US" sz="4600">
                <a:solidFill>
                  <a:srgbClr val="5C4C48"/>
                </a:solidFill>
              </a:rPr>
              <a:t>Three Supervised Architectures  </a:t>
            </a:r>
            <a:endParaRPr sz="4600"/>
          </a:p>
        </p:txBody>
      </p:sp>
      <p:sp>
        <p:nvSpPr>
          <p:cNvPr id="332" name="Google Shape;332;p6"/>
          <p:cNvSpPr txBox="1"/>
          <p:nvPr/>
        </p:nvSpPr>
        <p:spPr>
          <a:xfrm>
            <a:off x="0" y="508975"/>
            <a:ext cx="12192000" cy="115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</a:pPr>
            <a:endParaRPr sz="3200" b="0" i="0" u="none" strike="noStrike" cap="non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546771" y="1949757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993300"/>
                </a:solidFill>
                <a:latin typeface="Calibri"/>
                <a:ea typeface="Calibri"/>
                <a:cs typeface="Calibri"/>
                <a:sym typeface="Calibri"/>
              </a:rPr>
              <a:t>Base net</a:t>
            </a:r>
            <a:endParaRPr sz="1900" b="0" i="0" u="none" strike="noStrike" cap="none">
              <a:solidFill>
                <a:srgbClr val="99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583101" y="2395728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1.04M params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619432" y="3015465"/>
            <a:ext cx="3154680" cy="1033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5 plain conv blocks (32→256 channels)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2E232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Global avg. pool + linear head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4471661" y="1949757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993300"/>
                </a:solidFill>
                <a:latin typeface="Calibri"/>
                <a:ea typeface="Calibri"/>
                <a:cs typeface="Calibri"/>
                <a:sym typeface="Calibri"/>
              </a:rPr>
              <a:t>Medium net</a:t>
            </a:r>
            <a:endParaRPr sz="1900" b="0" i="0" u="none" strike="noStrike" cap="none">
              <a:solidFill>
                <a:srgbClr val="99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4507992" y="2395728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5.03M params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4471661" y="3015465"/>
            <a:ext cx="31546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Stem + 4 residual stages (64→512 channels)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Skip connections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Encoder reused for SSL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8199120" y="1920240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993300"/>
                </a:solidFill>
                <a:latin typeface="Calibri"/>
                <a:ea typeface="Calibri"/>
                <a:cs typeface="Calibri"/>
                <a:sym typeface="Calibri"/>
              </a:rPr>
              <a:t>Complex net</a:t>
            </a:r>
            <a:endParaRPr sz="1900" b="0" i="0" u="none" strike="noStrike" cap="none">
              <a:solidFill>
                <a:srgbClr val="99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8238744" y="2395728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4.33M params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8238744" y="3063240"/>
            <a:ext cx="31546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EfficientNet-B0, ImageNet-pretrained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5 blocks frozen (0.31M)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 blocks + head fine-tuned (4.02M)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619432" y="1920240"/>
            <a:ext cx="3082019" cy="2887734"/>
          </a:xfrm>
          <a:prstGeom prst="rect">
            <a:avLst/>
          </a:prstGeom>
          <a:noFill/>
          <a:ln w="19050" cap="flat" cmpd="sng">
            <a:solidFill>
              <a:srgbClr val="99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4507992" y="1920240"/>
            <a:ext cx="3082019" cy="2887734"/>
          </a:xfrm>
          <a:prstGeom prst="rect">
            <a:avLst/>
          </a:prstGeom>
          <a:noFill/>
          <a:ln w="19050" cap="flat" cmpd="sng">
            <a:solidFill>
              <a:srgbClr val="99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8238744" y="1920240"/>
            <a:ext cx="3082019" cy="2887734"/>
          </a:xfrm>
          <a:prstGeom prst="rect">
            <a:avLst/>
          </a:prstGeom>
          <a:noFill/>
          <a:ln w="19050" cap="flat" cmpd="sng">
            <a:solidFill>
              <a:srgbClr val="99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7"/>
          <p:cNvSpPr txBox="1">
            <a:spLocks noGrp="1"/>
          </p:cNvSpPr>
          <p:nvPr>
            <p:ph type="title"/>
          </p:nvPr>
        </p:nvSpPr>
        <p:spPr>
          <a:xfrm>
            <a:off x="362952" y="302399"/>
            <a:ext cx="11466095" cy="115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4600"/>
              <a:buFont typeface="Play"/>
              <a:buNone/>
            </a:pPr>
            <a:r>
              <a:rPr lang="en-US" sz="4600">
                <a:solidFill>
                  <a:srgbClr val="5C4C48"/>
                </a:solidFill>
              </a:rPr>
              <a:t>Same Encoder, two label-free pretext tasks</a:t>
            </a:r>
            <a:endParaRPr sz="4600"/>
          </a:p>
        </p:txBody>
      </p:sp>
      <p:sp>
        <p:nvSpPr>
          <p:cNvPr id="350" name="Google Shape;350;p7"/>
          <p:cNvSpPr txBox="1"/>
          <p:nvPr/>
        </p:nvSpPr>
        <p:spPr>
          <a:xfrm>
            <a:off x="0" y="508975"/>
            <a:ext cx="12192000" cy="115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</a:pPr>
            <a:endParaRPr sz="3200" b="0" i="0" u="none" strike="noStrike" cap="non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51" name="Google Shape;351;p7"/>
          <p:cNvSpPr/>
          <p:nvPr/>
        </p:nvSpPr>
        <p:spPr>
          <a:xfrm>
            <a:off x="609600" y="1898511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1900"/>
              <a:buFont typeface="Calibri"/>
              <a:buNone/>
            </a:pPr>
            <a:r>
              <a:rPr lang="en-US" sz="1900" b="0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1900" b="1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medium-net encoder </a:t>
            </a:r>
            <a:r>
              <a:rPr lang="en-US" sz="1900" b="0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(4.90M params) is </a:t>
            </a:r>
            <a:r>
              <a:rPr lang="en-US" sz="1900" b="1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pretrained with labels hidden</a:t>
            </a:r>
            <a:r>
              <a:rPr lang="en-US" sz="1900" b="0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, then </a:t>
            </a:r>
            <a:r>
              <a:rPr lang="en-US" sz="1900" b="1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frozen </a:t>
            </a:r>
            <a:r>
              <a:rPr lang="en-US" sz="1900" b="0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1900" b="1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evaluated</a:t>
            </a:r>
            <a:r>
              <a:rPr lang="en-US" sz="1900" b="0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 with </a:t>
            </a:r>
            <a:r>
              <a:rPr lang="en-US" sz="1900" b="1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linear / 5-NN probes</a:t>
            </a:r>
            <a:endParaRPr sz="19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7"/>
          <p:cNvSpPr/>
          <p:nvPr/>
        </p:nvSpPr>
        <p:spPr>
          <a:xfrm>
            <a:off x="1112520" y="2794535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Colorization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1112520" y="3297455"/>
            <a:ext cx="4489409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Input: L channel (Lab space)  →  predict (a, b) chroma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rgbClr val="5C4C48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Decoder: 5 upsample+conv blocks, MSE loss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rgbClr val="5C4C48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Only spatial augmentation (crop/flip) 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rgbClr val="5C4C48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Pretext forces the encoder to discard colour, one of food's strongest cues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6827520" y="2794535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Contrastive (SimCLR-style)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6827520" y="3297455"/>
            <a:ext cx="4489409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augmented views per image (crop, flip, colour jitter, grayscale p=0.2)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Projection head 512→512→128, NT-Xent loss, τ = 0.5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Crop scale widened to 0.3-1.0 (top-down plates can lose all food)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 taken before the projection head for probing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7"/>
          <p:cNvSpPr/>
          <p:nvPr/>
        </p:nvSpPr>
        <p:spPr>
          <a:xfrm>
            <a:off x="1002890" y="2794534"/>
            <a:ext cx="4754880" cy="3134317"/>
          </a:xfrm>
          <a:prstGeom prst="rect">
            <a:avLst/>
          </a:prstGeom>
          <a:noFill/>
          <a:ln w="19050" cap="flat" cmpd="sng">
            <a:solidFill>
              <a:srgbClr val="99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6717890" y="2794533"/>
            <a:ext cx="4754880" cy="3134317"/>
          </a:xfrm>
          <a:prstGeom prst="rect">
            <a:avLst/>
          </a:prstGeom>
          <a:noFill/>
          <a:ln w="19050" cap="flat" cmpd="sng">
            <a:solidFill>
              <a:srgbClr val="99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8"/>
          <p:cNvSpPr txBox="1">
            <a:spLocks noGrp="1"/>
          </p:cNvSpPr>
          <p:nvPr>
            <p:ph type="title"/>
          </p:nvPr>
        </p:nvSpPr>
        <p:spPr>
          <a:xfrm>
            <a:off x="699837" y="277080"/>
            <a:ext cx="10792326" cy="72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4600"/>
              <a:buFont typeface="Play"/>
              <a:buNone/>
            </a:pPr>
            <a:r>
              <a:rPr lang="en-US" sz="4600">
                <a:solidFill>
                  <a:srgbClr val="5C4C48"/>
                </a:solidFill>
              </a:rPr>
              <a:t>Supervised models: results - 1 </a:t>
            </a:r>
            <a:endParaRPr sz="4600"/>
          </a:p>
        </p:txBody>
      </p:sp>
      <p:sp>
        <p:nvSpPr>
          <p:cNvPr id="363" name="Google Shape;363;p8"/>
          <p:cNvSpPr txBox="1"/>
          <p:nvPr/>
        </p:nvSpPr>
        <p:spPr>
          <a:xfrm>
            <a:off x="0" y="508975"/>
            <a:ext cx="12192000" cy="115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</a:pPr>
            <a:endParaRPr sz="3200" b="0" i="0" u="none" strike="noStrike" cap="non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393290" y="2087409"/>
            <a:ext cx="211845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993300"/>
                </a:solidFill>
                <a:latin typeface="Calibri"/>
                <a:ea typeface="Calibri"/>
                <a:cs typeface="Calibri"/>
                <a:sym typeface="Calibri"/>
              </a:rPr>
              <a:t>Base net</a:t>
            </a:r>
            <a:endParaRPr sz="1900" b="0" i="0" u="none" strike="noStrike" cap="none">
              <a:solidFill>
                <a:srgbClr val="99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5" name="Google Shape;36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1748" y="1406220"/>
            <a:ext cx="6071025" cy="199133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8"/>
          <p:cNvSpPr/>
          <p:nvPr/>
        </p:nvSpPr>
        <p:spPr>
          <a:xfrm>
            <a:off x="-124821" y="2422443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1.04M params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8535627" y="2102403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53,1 %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8261307" y="242526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589935" y="1278194"/>
            <a:ext cx="10353368" cy="2330245"/>
          </a:xfrm>
          <a:prstGeom prst="rect">
            <a:avLst/>
          </a:prstGeom>
          <a:noFill/>
          <a:ln w="19050" cap="flat" cmpd="sng">
            <a:solidFill>
              <a:srgbClr val="99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393290" y="4838800"/>
            <a:ext cx="211845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993300"/>
                </a:solidFill>
                <a:latin typeface="Calibri"/>
                <a:ea typeface="Calibri"/>
                <a:cs typeface="Calibri"/>
                <a:sym typeface="Calibri"/>
              </a:rPr>
              <a:t>Complex net</a:t>
            </a:r>
            <a:endParaRPr sz="1900" b="0" i="0" u="none" strike="noStrike" cap="none">
              <a:solidFill>
                <a:srgbClr val="99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-124821" y="5173834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4.33M params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8535627" y="4853794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64,9 %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8261307" y="5176651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589935" y="4029585"/>
            <a:ext cx="10353368" cy="2330245"/>
          </a:xfrm>
          <a:prstGeom prst="rect">
            <a:avLst/>
          </a:prstGeom>
          <a:noFill/>
          <a:ln w="19050" cap="flat" cmpd="sng">
            <a:solidFill>
              <a:srgbClr val="99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35321" y="4212014"/>
            <a:ext cx="6047452" cy="1983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9"/>
          <p:cNvSpPr txBox="1">
            <a:spLocks noGrp="1"/>
          </p:cNvSpPr>
          <p:nvPr>
            <p:ph type="title"/>
          </p:nvPr>
        </p:nvSpPr>
        <p:spPr>
          <a:xfrm>
            <a:off x="699837" y="277080"/>
            <a:ext cx="10792326" cy="72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4600"/>
              <a:buFont typeface="Play"/>
              <a:buNone/>
            </a:pPr>
            <a:r>
              <a:rPr lang="en-US" sz="4600">
                <a:solidFill>
                  <a:srgbClr val="5C4C48"/>
                </a:solidFill>
              </a:rPr>
              <a:t>Supervised models: results - 2 </a:t>
            </a:r>
            <a:endParaRPr sz="4600"/>
          </a:p>
        </p:txBody>
      </p:sp>
      <p:sp>
        <p:nvSpPr>
          <p:cNvPr id="381" name="Google Shape;381;p9"/>
          <p:cNvSpPr txBox="1"/>
          <p:nvPr/>
        </p:nvSpPr>
        <p:spPr>
          <a:xfrm>
            <a:off x="0" y="508975"/>
            <a:ext cx="12192000" cy="115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</a:pPr>
            <a:endParaRPr sz="3200" b="0" i="0" u="none" strike="noStrike" cap="non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589935" y="2087409"/>
            <a:ext cx="211845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993300"/>
                </a:solidFill>
                <a:latin typeface="Calibri"/>
                <a:ea typeface="Calibri"/>
                <a:cs typeface="Calibri"/>
                <a:sym typeface="Calibri"/>
              </a:rPr>
              <a:t>Medium net d=0.3</a:t>
            </a:r>
            <a:endParaRPr sz="1900" b="0" i="0" u="none" strike="noStrike" cap="none">
              <a:solidFill>
                <a:srgbClr val="99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71824" y="2628604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5.03M params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8533908" y="1951366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600" b="1" i="0" u="none" strike="noStrike" cap="none">
              <a:solidFill>
                <a:srgbClr val="9933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600" b="1" i="0" u="none" strike="noStrike" cap="none">
              <a:solidFill>
                <a:srgbClr val="9933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9933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600" b="1" i="0" u="none" strike="noStrike" cap="none">
              <a:solidFill>
                <a:srgbClr val="9933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1" i="0" u="none" strike="noStrike" cap="none">
              <a:solidFill>
                <a:srgbClr val="B850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8261307" y="242526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589935" y="1278194"/>
            <a:ext cx="10353368" cy="2330245"/>
          </a:xfrm>
          <a:prstGeom prst="rect">
            <a:avLst/>
          </a:prstGeom>
          <a:noFill/>
          <a:ln w="19050" cap="flat" cmpd="sng">
            <a:solidFill>
              <a:srgbClr val="99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8261307" y="5176651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589935" y="4029585"/>
            <a:ext cx="10353368" cy="2330245"/>
          </a:xfrm>
          <a:prstGeom prst="rect">
            <a:avLst/>
          </a:prstGeom>
          <a:noFill/>
          <a:ln w="19050" cap="flat" cmpd="sng">
            <a:solidFill>
              <a:srgbClr val="99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589935" y="4966107"/>
            <a:ext cx="211845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993300"/>
                </a:solidFill>
                <a:latin typeface="Calibri"/>
                <a:ea typeface="Calibri"/>
                <a:cs typeface="Calibri"/>
                <a:sym typeface="Calibri"/>
              </a:rPr>
              <a:t>Medium net d=0.5</a:t>
            </a:r>
            <a:endParaRPr sz="1900" b="0" i="0" u="none" strike="noStrike" cap="none">
              <a:solidFill>
                <a:srgbClr val="99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71824" y="5478693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5.03M params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8423799" y="4966107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600" b="1" i="0" u="none" strike="noStrike" cap="none">
              <a:solidFill>
                <a:srgbClr val="9933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600" b="1" i="0" u="none" strike="noStrike" cap="none">
              <a:solidFill>
                <a:srgbClr val="9933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9933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2600" b="1" i="0" u="none" strike="noStrike" cap="none">
              <a:solidFill>
                <a:srgbClr val="9933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600" b="1" i="0" u="none" strike="noStrike" cap="none">
              <a:solidFill>
                <a:srgbClr val="9933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1" i="0" u="none" strike="noStrike" cap="none">
              <a:solidFill>
                <a:srgbClr val="B850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2" name="Google Shape;39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24290" y="1501412"/>
            <a:ext cx="6053452" cy="198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84687" y="4245982"/>
            <a:ext cx="5993055" cy="1965762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9"/>
          <p:cNvSpPr txBox="1"/>
          <p:nvPr/>
        </p:nvSpPr>
        <p:spPr>
          <a:xfrm>
            <a:off x="9340088" y="1951375"/>
            <a:ext cx="134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57,8%</a:t>
            </a:r>
            <a:endParaRPr sz="2500" b="1" dirty="0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95" name="Google Shape;395;p9"/>
          <p:cNvSpPr txBox="1"/>
          <p:nvPr/>
        </p:nvSpPr>
        <p:spPr>
          <a:xfrm>
            <a:off x="9340088" y="4596800"/>
            <a:ext cx="134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58,7%</a:t>
            </a:r>
            <a:endParaRPr sz="2500" b="1" dirty="0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0"/>
          <p:cNvSpPr txBox="1">
            <a:spLocks noGrp="1"/>
          </p:cNvSpPr>
          <p:nvPr>
            <p:ph type="title"/>
          </p:nvPr>
        </p:nvSpPr>
        <p:spPr>
          <a:xfrm>
            <a:off x="699837" y="277080"/>
            <a:ext cx="10792326" cy="72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4600"/>
              <a:buFont typeface="Play"/>
              <a:buNone/>
            </a:pPr>
            <a:r>
              <a:rPr lang="en-US" sz="4600">
                <a:solidFill>
                  <a:srgbClr val="5C4C48"/>
                </a:solidFill>
              </a:rPr>
              <a:t>Self - Supervised features: results </a:t>
            </a:r>
            <a:endParaRPr sz="4600"/>
          </a:p>
        </p:txBody>
      </p:sp>
      <p:sp>
        <p:nvSpPr>
          <p:cNvPr id="401" name="Google Shape;401;p10"/>
          <p:cNvSpPr txBox="1"/>
          <p:nvPr/>
        </p:nvSpPr>
        <p:spPr>
          <a:xfrm>
            <a:off x="0" y="508975"/>
            <a:ext cx="12192000" cy="115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</a:pPr>
            <a:endParaRPr sz="3200" b="0" i="0" u="none" strike="noStrike" cap="non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402" name="Google Shape;402;p10"/>
          <p:cNvGraphicFramePr/>
          <p:nvPr/>
        </p:nvGraphicFramePr>
        <p:xfrm>
          <a:off x="548640" y="1691640"/>
          <a:ext cx="67665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3" name="Google Shape;403;p10"/>
          <p:cNvSpPr/>
          <p:nvPr/>
        </p:nvSpPr>
        <p:spPr>
          <a:xfrm>
            <a:off x="2108528" y="1371600"/>
            <a:ext cx="390881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993300"/>
                </a:solidFill>
                <a:latin typeface="Calibri"/>
                <a:ea typeface="Calibri"/>
                <a:cs typeface="Calibri"/>
                <a:sym typeface="Calibri"/>
              </a:rPr>
              <a:t>Both far below supervised accuracy</a:t>
            </a:r>
            <a:endParaRPr sz="1900" b="0" i="0" u="none" strike="noStrike" cap="none">
              <a:solidFill>
                <a:srgbClr val="99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7919392" y="2193085"/>
            <a:ext cx="347472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Contrastive &gt; colorization </a:t>
            </a: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every metric: it keeps full RGB and learns crop/lighting invariance closer to what classification needs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5-NN far weaker than linear for both</a:t>
            </a:r>
            <a:r>
              <a:rPr lang="en-US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classes are linearly separable but not tightly clustered in feature space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1"/>
          <p:cNvSpPr txBox="1">
            <a:spLocks noGrp="1"/>
          </p:cNvSpPr>
          <p:nvPr>
            <p:ph type="title"/>
          </p:nvPr>
        </p:nvSpPr>
        <p:spPr>
          <a:xfrm>
            <a:off x="-78658" y="494612"/>
            <a:ext cx="12192000" cy="72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4600"/>
              <a:buFont typeface="Play"/>
              <a:buNone/>
            </a:pPr>
            <a:r>
              <a:rPr lang="en-US" sz="4600">
                <a:solidFill>
                  <a:srgbClr val="5C4C48"/>
                </a:solidFill>
              </a:rPr>
              <a:t>Confusions of the best model </a:t>
            </a:r>
            <a:r>
              <a:rPr lang="en-US" sz="4600">
                <a:solidFill>
                  <a:srgbClr val="2E2321"/>
                </a:solidFill>
              </a:rPr>
              <a:t>(EfficientNet-B0)</a:t>
            </a:r>
            <a:r>
              <a:rPr lang="en-US" sz="4600">
                <a:solidFill>
                  <a:srgbClr val="5C4C48"/>
                </a:solidFill>
              </a:rPr>
              <a:t> </a:t>
            </a:r>
            <a:endParaRPr sz="4600"/>
          </a:p>
        </p:txBody>
      </p:sp>
      <p:sp>
        <p:nvSpPr>
          <p:cNvPr id="410" name="Google Shape;410;p11"/>
          <p:cNvSpPr txBox="1"/>
          <p:nvPr/>
        </p:nvSpPr>
        <p:spPr>
          <a:xfrm>
            <a:off x="0" y="508975"/>
            <a:ext cx="12192000" cy="115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</a:pPr>
            <a:endParaRPr sz="3200" b="0" i="0" u="none" strike="noStrike" cap="non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214343" y="1680626"/>
            <a:ext cx="588165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Off-diagonal errors </a:t>
            </a:r>
            <a:r>
              <a:rPr lang="en-US" sz="1600" b="0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concentrate on </a:t>
            </a:r>
            <a:r>
              <a:rPr lang="en-US" sz="1600" b="1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dishes that are visually and semantically close</a:t>
            </a:r>
            <a:r>
              <a:rPr lang="en-US" sz="1600" b="0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 , pairs </a:t>
            </a:r>
            <a:r>
              <a:rPr lang="en-US" sz="1600" b="1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a human would also hesitate on</a:t>
            </a:r>
            <a:r>
              <a:rPr lang="en-US" sz="1600" b="0" i="0" u="none" strike="noStrike" cap="none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1"/>
          <p:cNvSpPr txBox="1"/>
          <p:nvPr/>
        </p:nvSpPr>
        <p:spPr>
          <a:xfrm>
            <a:off x="505492" y="2472520"/>
            <a:ext cx="3077496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300"/>
              <a:buFont typeface="Arial"/>
              <a:buChar char="•"/>
            </a:pPr>
            <a:r>
              <a:rPr lang="en-US" sz="13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Marble cake </a:t>
            </a:r>
            <a:r>
              <a:rPr lang="en-US" sz="13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vs.</a:t>
            </a:r>
            <a:r>
              <a:rPr lang="en-US" sz="13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 Coffee Cake 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1"/>
          <p:cNvSpPr txBox="1"/>
          <p:nvPr/>
        </p:nvSpPr>
        <p:spPr>
          <a:xfrm>
            <a:off x="550607" y="3800507"/>
            <a:ext cx="307749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2E2321"/>
              </a:buClr>
              <a:buSzPts val="1200"/>
              <a:buFont typeface="Arial"/>
              <a:buChar char="•"/>
            </a:pPr>
            <a:r>
              <a:rPr lang="en-US" sz="12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Tenderloin</a:t>
            </a:r>
            <a:r>
              <a:rPr lang="en-US" sz="1200" b="0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 vs. </a:t>
            </a:r>
            <a:r>
              <a:rPr lang="en-US" sz="1200" b="1" i="0" u="none" strike="noStrike" cap="none">
                <a:solidFill>
                  <a:srgbClr val="2E2321"/>
                </a:solidFill>
                <a:latin typeface="Calibri"/>
                <a:ea typeface="Calibri"/>
                <a:cs typeface="Calibri"/>
                <a:sym typeface="Calibri"/>
              </a:rPr>
              <a:t>Pork chop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84190" y="1087619"/>
            <a:ext cx="6229152" cy="5728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11"/>
          <p:cNvPicPr preferRelativeResize="0"/>
          <p:nvPr/>
        </p:nvPicPr>
        <p:blipFill rotWithShape="1">
          <a:blip r:embed="rId4">
            <a:alphaModFix/>
          </a:blip>
          <a:srcRect r="-12752"/>
          <a:stretch/>
        </p:blipFill>
        <p:spPr>
          <a:xfrm>
            <a:off x="1719427" y="5380585"/>
            <a:ext cx="739856" cy="6595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6" name="Google Shape;416;p11"/>
          <p:cNvGrpSpPr/>
          <p:nvPr/>
        </p:nvGrpSpPr>
        <p:grpSpPr>
          <a:xfrm>
            <a:off x="537947" y="4981249"/>
            <a:ext cx="3077496" cy="1058885"/>
            <a:chOff x="550607" y="5304503"/>
            <a:chExt cx="3077496" cy="1058885"/>
          </a:xfrm>
        </p:grpSpPr>
        <p:sp>
          <p:nvSpPr>
            <p:cNvPr id="417" name="Google Shape;417;p11"/>
            <p:cNvSpPr txBox="1"/>
            <p:nvPr/>
          </p:nvSpPr>
          <p:spPr>
            <a:xfrm>
              <a:off x="550607" y="5304503"/>
              <a:ext cx="3077496" cy="4770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2E2321"/>
                </a:buClr>
                <a:buSzPts val="1200"/>
                <a:buFont typeface="Arial"/>
                <a:buChar char="•"/>
              </a:pPr>
              <a:r>
                <a:rPr lang="en-US" sz="1200" b="1" i="0" u="none" strike="noStrike" cap="none">
                  <a:solidFill>
                    <a:srgbClr val="2E2321"/>
                  </a:solidFill>
                  <a:latin typeface="Calibri"/>
                  <a:ea typeface="Calibri"/>
                  <a:cs typeface="Calibri"/>
                  <a:sym typeface="Calibri"/>
                </a:rPr>
                <a:t>Cannellon</a:t>
              </a:r>
              <a:r>
                <a:rPr lang="en-US" sz="1200" b="0" i="0" u="none" strike="noStrike" cap="none">
                  <a:solidFill>
                    <a:srgbClr val="2E2321"/>
                  </a:solidFill>
                  <a:latin typeface="Calibri"/>
                  <a:ea typeface="Calibri"/>
                  <a:cs typeface="Calibri"/>
                  <a:sym typeface="Calibri"/>
                </a:rPr>
                <a:t>i vs. </a:t>
              </a:r>
              <a:r>
                <a:rPr lang="en-US" sz="1200" b="1" i="0" u="none" strike="noStrike" cap="none">
                  <a:solidFill>
                    <a:srgbClr val="2E2321"/>
                  </a:solidFill>
                  <a:latin typeface="Calibri"/>
                  <a:ea typeface="Calibri"/>
                  <a:cs typeface="Calibri"/>
                  <a:sym typeface="Calibri"/>
                </a:rPr>
                <a:t>Lasagna</a:t>
              </a:r>
              <a:endPara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u="none" strike="noStrike" cap="none">
                  <a:solidFill>
                    <a:srgbClr val="2E232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8" name="Google Shape;418;p1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01366" y="5707211"/>
              <a:ext cx="656177" cy="65617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19" name="Google Shape;419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flipH="1">
            <a:off x="901366" y="2852790"/>
            <a:ext cx="679367" cy="679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flipH="1">
            <a:off x="1737012" y="2865358"/>
            <a:ext cx="679367" cy="679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11"/>
          <p:cNvPicPr preferRelativeResize="0"/>
          <p:nvPr/>
        </p:nvPicPr>
        <p:blipFill rotWithShape="1">
          <a:blip r:embed="rId8">
            <a:alphaModFix/>
          </a:blip>
          <a:srcRect t="3518" b="16147"/>
          <a:stretch/>
        </p:blipFill>
        <p:spPr>
          <a:xfrm>
            <a:off x="1737012" y="4077506"/>
            <a:ext cx="740301" cy="74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1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7532" y="4077506"/>
            <a:ext cx="740302" cy="74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2"/>
          <p:cNvSpPr txBox="1">
            <a:spLocks noGrp="1"/>
          </p:cNvSpPr>
          <p:nvPr>
            <p:ph type="title"/>
          </p:nvPr>
        </p:nvSpPr>
        <p:spPr>
          <a:xfrm>
            <a:off x="-78658" y="494612"/>
            <a:ext cx="12192000" cy="72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4600"/>
              <a:buFont typeface="Play"/>
              <a:buNone/>
            </a:pPr>
            <a:r>
              <a:rPr lang="en-US" sz="4600">
                <a:solidFill>
                  <a:srgbClr val="5C4C48"/>
                </a:solidFill>
              </a:rPr>
              <a:t>Future Work</a:t>
            </a:r>
            <a:endParaRPr sz="4600"/>
          </a:p>
        </p:txBody>
      </p:sp>
      <p:sp>
        <p:nvSpPr>
          <p:cNvPr id="428" name="Google Shape;428;p12"/>
          <p:cNvSpPr txBox="1"/>
          <p:nvPr/>
        </p:nvSpPr>
        <p:spPr>
          <a:xfrm>
            <a:off x="0" y="508975"/>
            <a:ext cx="12192000" cy="115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</a:pPr>
            <a:endParaRPr sz="3200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822960" y="278892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900"/>
              <a:buFont typeface="Calibri"/>
              <a:buNone/>
            </a:pPr>
            <a:r>
              <a:rPr lang="en-US" sz="1900" b="1">
                <a:solidFill>
                  <a:srgbClr val="993300"/>
                </a:solidFill>
                <a:latin typeface="Calibri"/>
                <a:ea typeface="Calibri"/>
                <a:cs typeface="Calibri"/>
                <a:sym typeface="Calibri"/>
              </a:rPr>
              <a:t>Fine-tune end-to-end</a:t>
            </a:r>
            <a:endParaRPr sz="1900">
              <a:solidFill>
                <a:srgbClr val="99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822960" y="3337560"/>
            <a:ext cx="30632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Instead of freezing the self-supervised encoder, fine-tune it on labels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4599432" y="278892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900"/>
              <a:buFont typeface="Calibri"/>
              <a:buNone/>
            </a:pPr>
            <a:r>
              <a:rPr lang="en-US" sz="1900" b="1">
                <a:solidFill>
                  <a:srgbClr val="993300"/>
                </a:solidFill>
                <a:latin typeface="Calibri"/>
                <a:ea typeface="Calibri"/>
                <a:cs typeface="Calibri"/>
                <a:sym typeface="Calibri"/>
              </a:rPr>
              <a:t>More negatives</a:t>
            </a:r>
            <a:endParaRPr sz="1900">
              <a:solidFill>
                <a:srgbClr val="99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4599432" y="3337560"/>
            <a:ext cx="30632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Add a memory bank to test whether small batch size is the real limiting factor for the contrastive run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8375904" y="278892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900"/>
              <a:buFont typeface="Calibri"/>
              <a:buNone/>
            </a:pPr>
            <a:r>
              <a:rPr lang="en-US" sz="1900" b="1">
                <a:solidFill>
                  <a:srgbClr val="993300"/>
                </a:solidFill>
                <a:latin typeface="Calibri"/>
                <a:ea typeface="Calibri"/>
                <a:cs typeface="Calibri"/>
                <a:sym typeface="Calibri"/>
              </a:rPr>
              <a:t>Address data issues</a:t>
            </a:r>
            <a:endParaRPr sz="1900">
              <a:solidFill>
                <a:srgbClr val="99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8375904" y="3337560"/>
            <a:ext cx="30632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4C48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5C4C48"/>
                </a:solidFill>
                <a:latin typeface="Calibri"/>
                <a:ea typeface="Calibri"/>
                <a:cs typeface="Calibri"/>
                <a:sym typeface="Calibri"/>
              </a:rPr>
              <a:t>Mild oversampling of classes below 100 images, and a loss robust to label noise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894735" y="2293866"/>
            <a:ext cx="3082019" cy="2887734"/>
          </a:xfrm>
          <a:prstGeom prst="rect">
            <a:avLst/>
          </a:prstGeom>
          <a:noFill/>
          <a:ln w="19050" cap="flat" cmpd="sng">
            <a:solidFill>
              <a:srgbClr val="99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4635319" y="2293866"/>
            <a:ext cx="3082019" cy="2887734"/>
          </a:xfrm>
          <a:prstGeom prst="rect">
            <a:avLst/>
          </a:prstGeom>
          <a:noFill/>
          <a:ln w="19050" cap="flat" cmpd="sng">
            <a:solidFill>
              <a:srgbClr val="99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8375903" y="2293866"/>
            <a:ext cx="3082019" cy="2887734"/>
          </a:xfrm>
          <a:prstGeom prst="rect">
            <a:avLst/>
          </a:prstGeom>
          <a:noFill/>
          <a:ln w="19050" cap="flat" cmpd="sng">
            <a:solidFill>
              <a:srgbClr val="99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3"/>
          <p:cNvSpPr txBox="1">
            <a:spLocks noGrp="1"/>
          </p:cNvSpPr>
          <p:nvPr>
            <p:ph type="ctrTitle"/>
          </p:nvPr>
        </p:nvSpPr>
        <p:spPr>
          <a:xfrm>
            <a:off x="0" y="508975"/>
            <a:ext cx="12192000" cy="3050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lay"/>
              <a:buNone/>
            </a:pPr>
            <a:r>
              <a:rPr lang="en-US"/>
              <a:t>Thank You!</a:t>
            </a:r>
            <a:endParaRPr/>
          </a:p>
        </p:txBody>
      </p:sp>
      <p:sp>
        <p:nvSpPr>
          <p:cNvPr id="444" name="Google Shape;444;p13"/>
          <p:cNvSpPr txBox="1"/>
          <p:nvPr/>
        </p:nvSpPr>
        <p:spPr>
          <a:xfrm>
            <a:off x="2509058" y="5222870"/>
            <a:ext cx="2784838" cy="1184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None/>
            </a:pPr>
            <a:r>
              <a:rPr lang="en-US" sz="25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Angelica Iseni </a:t>
            </a:r>
            <a:endParaRPr dirty="0"/>
          </a:p>
        </p:txBody>
      </p:sp>
      <p:sp>
        <p:nvSpPr>
          <p:cNvPr id="445" name="Google Shape;445;p13"/>
          <p:cNvSpPr txBox="1"/>
          <p:nvPr/>
        </p:nvSpPr>
        <p:spPr>
          <a:xfrm>
            <a:off x="6898106" y="5164990"/>
            <a:ext cx="2784838" cy="1184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None/>
            </a:pPr>
            <a:r>
              <a:rPr lang="en-US" sz="25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Kevin Del Gaudio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rgbClr val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741</Words>
  <Application>Microsoft Office PowerPoint</Application>
  <PresentationFormat>Widescreen</PresentationFormat>
  <Paragraphs>122</Paragraphs>
  <Slides>13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7" baseType="lpstr">
      <vt:lpstr>Arial</vt:lpstr>
      <vt:lpstr>Play</vt:lpstr>
      <vt:lpstr>Calibri</vt:lpstr>
      <vt:lpstr>Shoji</vt:lpstr>
      <vt:lpstr>Food Recognition with Custom CNNs</vt:lpstr>
      <vt:lpstr>Project Overview </vt:lpstr>
      <vt:lpstr>Why food recognition is hard?</vt:lpstr>
      <vt:lpstr>One shared training protocol</vt:lpstr>
      <vt:lpstr>Dataset and preprocessing </vt:lpstr>
      <vt:lpstr>Three Supervised Architectures  </vt:lpstr>
      <vt:lpstr>Same Encoder, two label-free pretext tasks</vt:lpstr>
      <vt:lpstr>Supervised models: results - 1 </vt:lpstr>
      <vt:lpstr>Supervised models: results - 2 </vt:lpstr>
      <vt:lpstr>Self - Supervised features: results </vt:lpstr>
      <vt:lpstr>Confusions of the best model (EfficientNet-B0) </vt:lpstr>
      <vt:lpstr>Future Work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a.iseni@campus.unimib.it</dc:creator>
  <cp:lastModifiedBy>a.iseni@campus.unimib.it</cp:lastModifiedBy>
  <cp:revision>3</cp:revision>
  <dcterms:created xsi:type="dcterms:W3CDTF">2026-09-16T11:03:47Z</dcterms:created>
  <dcterms:modified xsi:type="dcterms:W3CDTF">2026-09-22T15:42:44Z</dcterms:modified>
</cp:coreProperties>
</file>